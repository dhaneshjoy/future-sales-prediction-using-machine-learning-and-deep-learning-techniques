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5" r:id="rId1"/>
  </p:sldMasterIdLst>
  <p:sldIdLst>
    <p:sldId id="256" r:id="rId2"/>
    <p:sldId id="257" r:id="rId3"/>
    <p:sldId id="258" r:id="rId4"/>
    <p:sldId id="259" r:id="rId5"/>
    <p:sldId id="267" r:id="rId6"/>
    <p:sldId id="261" r:id="rId7"/>
    <p:sldId id="260" r:id="rId8"/>
    <p:sldId id="262" r:id="rId9"/>
    <p:sldId id="263" r:id="rId10"/>
    <p:sldId id="264"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50DCDFB5-6BD1-469A-8E29-656B0A092E77}">
          <p14:sldIdLst>
            <p14:sldId id="256"/>
            <p14:sldId id="257"/>
            <p14:sldId id="258"/>
            <p14:sldId id="259"/>
            <p14:sldId id="267"/>
            <p14:sldId id="261"/>
            <p14:sldId id="260"/>
            <p14:sldId id="262"/>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6" d="100"/>
          <a:sy n="66" d="100"/>
        </p:scale>
        <p:origin x="66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B98CD5-1760-4216-A33D-E877B625EC60}" type="datetimeFigureOut">
              <a:rPr lang="en-IN" smtClean="0"/>
              <a:t>07-09-2023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D60AC4-72F2-4463-980A-4FDAE9E8B8F8}" type="slidenum">
              <a:rPr lang="en-IN" smtClean="0"/>
              <a:t>‹#›</a:t>
            </a:fld>
            <a:endParaRPr lang="en-IN"/>
          </a:p>
        </p:txBody>
      </p:sp>
    </p:spTree>
    <p:extLst>
      <p:ext uri="{BB962C8B-B14F-4D97-AF65-F5344CB8AC3E}">
        <p14:creationId xmlns:p14="http://schemas.microsoft.com/office/powerpoint/2010/main" val="2404313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B98CD5-1760-4216-A33D-E877B625EC60}" type="datetimeFigureOut">
              <a:rPr lang="en-IN" smtClean="0"/>
              <a:t>07-09-2023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D60AC4-72F2-4463-980A-4FDAE9E8B8F8}" type="slidenum">
              <a:rPr lang="en-IN" smtClean="0"/>
              <a:t>‹#›</a:t>
            </a:fld>
            <a:endParaRPr lang="en-IN"/>
          </a:p>
        </p:txBody>
      </p:sp>
    </p:spTree>
    <p:extLst>
      <p:ext uri="{BB962C8B-B14F-4D97-AF65-F5344CB8AC3E}">
        <p14:creationId xmlns:p14="http://schemas.microsoft.com/office/powerpoint/2010/main" val="3217446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B98CD5-1760-4216-A33D-E877B625EC60}" type="datetimeFigureOut">
              <a:rPr lang="en-IN" smtClean="0"/>
              <a:t>07-09-2023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D60AC4-72F2-4463-980A-4FDAE9E8B8F8}" type="slidenum">
              <a:rPr lang="en-IN" smtClean="0"/>
              <a:t>‹#›</a:t>
            </a:fld>
            <a:endParaRPr lang="en-IN"/>
          </a:p>
        </p:txBody>
      </p:sp>
    </p:spTree>
    <p:extLst>
      <p:ext uri="{BB962C8B-B14F-4D97-AF65-F5344CB8AC3E}">
        <p14:creationId xmlns:p14="http://schemas.microsoft.com/office/powerpoint/2010/main" val="1884107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B98CD5-1760-4216-A33D-E877B625EC60}" type="datetimeFigureOut">
              <a:rPr lang="en-IN" smtClean="0"/>
              <a:t>07-09-2023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CD60AC4-72F2-4463-980A-4FDAE9E8B8F8}" type="slidenum">
              <a:rPr lang="en-IN" smtClean="0"/>
              <a:t>‹#›</a:t>
            </a:fld>
            <a:endParaRPr lang="en-IN"/>
          </a:p>
        </p:txBody>
      </p:sp>
    </p:spTree>
    <p:extLst>
      <p:ext uri="{BB962C8B-B14F-4D97-AF65-F5344CB8AC3E}">
        <p14:creationId xmlns:p14="http://schemas.microsoft.com/office/powerpoint/2010/main" val="524957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B98CD5-1760-4216-A33D-E877B625EC60}" type="datetimeFigureOut">
              <a:rPr lang="en-IN" smtClean="0"/>
              <a:t>07-09-2023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CD60AC4-72F2-4463-980A-4FDAE9E8B8F8}" type="slidenum">
              <a:rPr lang="en-IN" smtClean="0"/>
              <a:t>‹#›</a:t>
            </a:fld>
            <a:endParaRPr lang="en-IN"/>
          </a:p>
        </p:txBody>
      </p:sp>
    </p:spTree>
    <p:extLst>
      <p:ext uri="{BB962C8B-B14F-4D97-AF65-F5344CB8AC3E}">
        <p14:creationId xmlns:p14="http://schemas.microsoft.com/office/powerpoint/2010/main" val="3977991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B98CD5-1760-4216-A33D-E877B625EC60}" type="datetimeFigureOut">
              <a:rPr lang="en-IN" smtClean="0"/>
              <a:t>07-09-2023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CD60AC4-72F2-4463-980A-4FDAE9E8B8F8}" type="slidenum">
              <a:rPr lang="en-IN" smtClean="0"/>
              <a:t>‹#›</a:t>
            </a:fld>
            <a:endParaRPr lang="en-IN"/>
          </a:p>
        </p:txBody>
      </p:sp>
    </p:spTree>
    <p:extLst>
      <p:ext uri="{BB962C8B-B14F-4D97-AF65-F5344CB8AC3E}">
        <p14:creationId xmlns:p14="http://schemas.microsoft.com/office/powerpoint/2010/main" val="214758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B98CD5-1760-4216-A33D-E877B625EC60}" type="datetimeFigureOut">
              <a:rPr lang="en-IN" smtClean="0"/>
              <a:t>07-09-2023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CD60AC4-72F2-4463-980A-4FDAE9E8B8F8}" type="slidenum">
              <a:rPr lang="en-IN" smtClean="0"/>
              <a:t>‹#›</a:t>
            </a:fld>
            <a:endParaRPr lang="en-IN"/>
          </a:p>
        </p:txBody>
      </p:sp>
    </p:spTree>
    <p:extLst>
      <p:ext uri="{BB962C8B-B14F-4D97-AF65-F5344CB8AC3E}">
        <p14:creationId xmlns:p14="http://schemas.microsoft.com/office/powerpoint/2010/main" val="2054962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B98CD5-1760-4216-A33D-E877B625EC60}" type="datetimeFigureOut">
              <a:rPr lang="en-IN" smtClean="0"/>
              <a:t>07-09-2023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CD60AC4-72F2-4463-980A-4FDAE9E8B8F8}" type="slidenum">
              <a:rPr lang="en-IN" smtClean="0"/>
              <a:t>‹#›</a:t>
            </a:fld>
            <a:endParaRPr lang="en-IN"/>
          </a:p>
        </p:txBody>
      </p:sp>
    </p:spTree>
    <p:extLst>
      <p:ext uri="{BB962C8B-B14F-4D97-AF65-F5344CB8AC3E}">
        <p14:creationId xmlns:p14="http://schemas.microsoft.com/office/powerpoint/2010/main" val="3721858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B98CD5-1760-4216-A33D-E877B625EC60}" type="datetimeFigureOut">
              <a:rPr lang="en-IN" smtClean="0"/>
              <a:t>07-09-2023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CD60AC4-72F2-4463-980A-4FDAE9E8B8F8}" type="slidenum">
              <a:rPr lang="en-IN" smtClean="0"/>
              <a:t>‹#›</a:t>
            </a:fld>
            <a:endParaRPr lang="en-IN"/>
          </a:p>
        </p:txBody>
      </p:sp>
    </p:spTree>
    <p:extLst>
      <p:ext uri="{BB962C8B-B14F-4D97-AF65-F5344CB8AC3E}">
        <p14:creationId xmlns:p14="http://schemas.microsoft.com/office/powerpoint/2010/main" val="2593969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B98CD5-1760-4216-A33D-E877B625EC60}" type="datetimeFigureOut">
              <a:rPr lang="en-IN" smtClean="0"/>
              <a:t>07-09-2023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D60AC4-72F2-4463-980A-4FDAE9E8B8F8}" type="slidenum">
              <a:rPr lang="en-IN" smtClean="0"/>
              <a:t>‹#›</a:t>
            </a:fld>
            <a:endParaRPr lang="en-IN"/>
          </a:p>
        </p:txBody>
      </p:sp>
    </p:spTree>
    <p:extLst>
      <p:ext uri="{BB962C8B-B14F-4D97-AF65-F5344CB8AC3E}">
        <p14:creationId xmlns:p14="http://schemas.microsoft.com/office/powerpoint/2010/main" val="1240864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B98CD5-1760-4216-A33D-E877B625EC60}" type="datetimeFigureOut">
              <a:rPr lang="en-IN" smtClean="0"/>
              <a:t>07-09-2023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D60AC4-72F2-4463-980A-4FDAE9E8B8F8}"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0236711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B98CD5-1760-4216-A33D-E877B625EC60}" type="datetimeFigureOut">
              <a:rPr lang="en-IN" smtClean="0"/>
              <a:t>07-09-2023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D60AC4-72F2-4463-980A-4FDAE9E8B8F8}" type="slidenum">
              <a:rPr lang="en-IN" smtClean="0"/>
              <a:t>‹#›</a:t>
            </a:fld>
            <a:endParaRPr lang="en-IN"/>
          </a:p>
        </p:txBody>
      </p:sp>
    </p:spTree>
    <p:extLst>
      <p:ext uri="{BB962C8B-B14F-4D97-AF65-F5344CB8AC3E}">
        <p14:creationId xmlns:p14="http://schemas.microsoft.com/office/powerpoint/2010/main" val="3916415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B98CD5-1760-4216-A33D-E877B625EC60}" type="datetimeFigureOut">
              <a:rPr lang="en-IN" smtClean="0"/>
              <a:t>07-09-2023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D60AC4-72F2-4463-980A-4FDAE9E8B8F8}"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739816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B98CD5-1760-4216-A33D-E877B625EC60}" type="datetimeFigureOut">
              <a:rPr lang="en-IN" smtClean="0"/>
              <a:t>07-09-2023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D60AC4-72F2-4463-980A-4FDAE9E8B8F8}" type="slidenum">
              <a:rPr lang="en-IN" smtClean="0"/>
              <a:t>‹#›</a:t>
            </a:fld>
            <a:endParaRPr lang="en-IN"/>
          </a:p>
        </p:txBody>
      </p:sp>
    </p:spTree>
    <p:extLst>
      <p:ext uri="{BB962C8B-B14F-4D97-AF65-F5344CB8AC3E}">
        <p14:creationId xmlns:p14="http://schemas.microsoft.com/office/powerpoint/2010/main" val="24603587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B98CD5-1760-4216-A33D-E877B625EC60}" type="datetimeFigureOut">
              <a:rPr lang="en-IN" smtClean="0"/>
              <a:t>07-09-2023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D60AC4-72F2-4463-980A-4FDAE9E8B8F8}" type="slidenum">
              <a:rPr lang="en-IN" smtClean="0"/>
              <a:t>‹#›</a:t>
            </a:fld>
            <a:endParaRPr lang="en-IN"/>
          </a:p>
        </p:txBody>
      </p:sp>
    </p:spTree>
    <p:extLst>
      <p:ext uri="{BB962C8B-B14F-4D97-AF65-F5344CB8AC3E}">
        <p14:creationId xmlns:p14="http://schemas.microsoft.com/office/powerpoint/2010/main" val="37121678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B98CD5-1760-4216-A33D-E877B625EC60}" type="datetimeFigureOut">
              <a:rPr lang="en-IN" smtClean="0"/>
              <a:t>07-09-2023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D60AC4-72F2-4463-980A-4FDAE9E8B8F8}" type="slidenum">
              <a:rPr lang="en-IN" smtClean="0"/>
              <a:t>‹#›</a:t>
            </a:fld>
            <a:endParaRPr lang="en-IN"/>
          </a:p>
        </p:txBody>
      </p:sp>
    </p:spTree>
    <p:extLst>
      <p:ext uri="{BB962C8B-B14F-4D97-AF65-F5344CB8AC3E}">
        <p14:creationId xmlns:p14="http://schemas.microsoft.com/office/powerpoint/2010/main" val="2031428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B98CD5-1760-4216-A33D-E877B625EC60}" type="datetimeFigureOut">
              <a:rPr lang="en-IN" smtClean="0"/>
              <a:t>07-09-2023</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CD60AC4-72F2-4463-980A-4FDAE9E8B8F8}" type="slidenum">
              <a:rPr lang="en-IN" smtClean="0"/>
              <a:t>‹#›</a:t>
            </a:fld>
            <a:endParaRPr lang="en-IN"/>
          </a:p>
        </p:txBody>
      </p:sp>
    </p:spTree>
    <p:extLst>
      <p:ext uri="{BB962C8B-B14F-4D97-AF65-F5344CB8AC3E}">
        <p14:creationId xmlns:p14="http://schemas.microsoft.com/office/powerpoint/2010/main" val="3522556394"/>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41BC1-940C-725D-C5D9-92A9B5302516}"/>
              </a:ext>
            </a:extLst>
          </p:cNvPr>
          <p:cNvSpPr>
            <a:spLocks noGrp="1"/>
          </p:cNvSpPr>
          <p:nvPr>
            <p:ph type="ctrTitle"/>
          </p:nvPr>
        </p:nvSpPr>
        <p:spPr>
          <a:xfrm>
            <a:off x="669668" y="1143624"/>
            <a:ext cx="9051847" cy="1646302"/>
          </a:xfrm>
        </p:spPr>
        <p:txBody>
          <a:bodyPr/>
          <a:lstStyle/>
          <a:p>
            <a:pPr algn="ctr">
              <a:lnSpc>
                <a:spcPct val="115000"/>
              </a:lnSpc>
              <a:spcBef>
                <a:spcPts val="2400"/>
              </a:spcBef>
            </a:pPr>
            <a:r>
              <a:rPr lang="en-US" sz="2400" b="1" kern="0" dirty="0">
                <a:solidFill>
                  <a:srgbClr val="365F91"/>
                </a:solidFill>
                <a:effectLst/>
                <a:latin typeface="Times New Roman" panose="02020603050405020304" pitchFamily="18" charset="0"/>
                <a:ea typeface="Times New Roman" panose="02020603050405020304" pitchFamily="18" charset="0"/>
                <a:cs typeface="Times New Roman" panose="02020603050405020304" pitchFamily="18" charset="0"/>
              </a:rPr>
              <a:t>Future Sales Prediction using Machine Learning and Deep Learning Techniques</a:t>
            </a:r>
            <a:endParaRPr lang="en-IN" sz="66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13F2774-71AA-20ED-1067-07EDFF0ADB1C}"/>
              </a:ext>
            </a:extLst>
          </p:cNvPr>
          <p:cNvSpPr txBox="1"/>
          <p:nvPr/>
        </p:nvSpPr>
        <p:spPr>
          <a:xfrm>
            <a:off x="1965597" y="3253338"/>
            <a:ext cx="6459988" cy="2624629"/>
          </a:xfrm>
          <a:prstGeom prst="rect">
            <a:avLst/>
          </a:prstGeom>
          <a:noFill/>
        </p:spPr>
        <p:txBody>
          <a:bodyPr wrap="square" rtlCol="0">
            <a:spAutoFit/>
          </a:bodyPr>
          <a:lstStyle/>
          <a:p>
            <a:pPr marL="0" marR="0" algn="ctr">
              <a:lnSpc>
                <a:spcPct val="115000"/>
              </a:lnSpc>
              <a:spcBef>
                <a:spcPts val="0"/>
              </a:spcBef>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Dhanesh Rodriguse ( ID 10610107 )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Supervisor : Prof. Amit Sharma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Dublin Business School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presentation is submitted for the degree of</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Bef>
                <a:spcPts val="0"/>
              </a:spcBef>
              <a:spcAft>
                <a:spcPts val="1000"/>
              </a:spcAft>
            </a:pP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Master of Science (MSc) in Business Analytics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descr="A close up of a sign&#10;&#10;Description automatically generated">
            <a:extLst>
              <a:ext uri="{FF2B5EF4-FFF2-40B4-BE49-F238E27FC236}">
                <a16:creationId xmlns:a16="http://schemas.microsoft.com/office/drawing/2014/main" id="{9B675E1D-7E0D-1125-DBF4-D2A9BAB1BA3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89631" y="21768"/>
            <a:ext cx="2589530" cy="1790065"/>
          </a:xfrm>
          <a:prstGeom prst="rect">
            <a:avLst/>
          </a:prstGeom>
          <a:noFill/>
        </p:spPr>
      </p:pic>
    </p:spTree>
    <p:extLst>
      <p:ext uri="{BB962C8B-B14F-4D97-AF65-F5344CB8AC3E}">
        <p14:creationId xmlns:p14="http://schemas.microsoft.com/office/powerpoint/2010/main" val="14112642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4828E-8216-5D10-CC62-F7ED17A5B6C3}"/>
              </a:ext>
            </a:extLst>
          </p:cNvPr>
          <p:cNvSpPr>
            <a:spLocks noGrp="1"/>
          </p:cNvSpPr>
          <p:nvPr>
            <p:ph type="title"/>
          </p:nvPr>
        </p:nvSpPr>
        <p:spPr/>
        <p:txBody>
          <a:bodyPr/>
          <a:lstStyle/>
          <a:p>
            <a:r>
              <a:rPr lang="en-IN" dirty="0"/>
              <a:t>Contents</a:t>
            </a:r>
          </a:p>
        </p:txBody>
      </p:sp>
      <p:sp>
        <p:nvSpPr>
          <p:cNvPr id="3" name="Content Placeholder 2">
            <a:extLst>
              <a:ext uri="{FF2B5EF4-FFF2-40B4-BE49-F238E27FC236}">
                <a16:creationId xmlns:a16="http://schemas.microsoft.com/office/drawing/2014/main" id="{4A483A70-F909-124A-3790-26E6E48943DC}"/>
              </a:ext>
            </a:extLst>
          </p:cNvPr>
          <p:cNvSpPr>
            <a:spLocks noGrp="1"/>
          </p:cNvSpPr>
          <p:nvPr>
            <p:ph idx="1"/>
          </p:nvPr>
        </p:nvSpPr>
        <p:spPr/>
        <p:txBody>
          <a:bodyPr>
            <a:normAutofit/>
          </a:bodyPr>
          <a:lstStyle/>
          <a:p>
            <a:r>
              <a:rPr lang="en-US" dirty="0">
                <a:cs typeface="Times New Roman" panose="02020603050405020304" pitchFamily="18" charset="0"/>
              </a:rPr>
              <a:t>Introduction</a:t>
            </a:r>
          </a:p>
          <a:p>
            <a:r>
              <a:rPr lang="en-US" dirty="0">
                <a:cs typeface="Times New Roman" panose="02020603050405020304" pitchFamily="18" charset="0"/>
              </a:rPr>
              <a:t>Motivation and Problem Statements</a:t>
            </a:r>
          </a:p>
          <a:p>
            <a:r>
              <a:rPr lang="en-US" dirty="0">
                <a:cs typeface="Times New Roman" panose="02020603050405020304" pitchFamily="18" charset="0"/>
              </a:rPr>
              <a:t>Literature Review</a:t>
            </a:r>
          </a:p>
          <a:p>
            <a:r>
              <a:rPr lang="en-US" dirty="0">
                <a:cs typeface="Times New Roman" panose="02020603050405020304" pitchFamily="18" charset="0"/>
              </a:rPr>
              <a:t>The Novelty and the Methodology</a:t>
            </a:r>
          </a:p>
          <a:p>
            <a:r>
              <a:rPr lang="en-US" dirty="0">
                <a:cs typeface="Times New Roman" panose="02020603050405020304" pitchFamily="18" charset="0"/>
              </a:rPr>
              <a:t>Schematic</a:t>
            </a:r>
          </a:p>
          <a:p>
            <a:r>
              <a:rPr lang="en-US" dirty="0">
                <a:cs typeface="Times New Roman" panose="02020603050405020304" pitchFamily="18" charset="0"/>
              </a:rPr>
              <a:t>Results and Conclusion</a:t>
            </a:r>
          </a:p>
          <a:p>
            <a:r>
              <a:rPr lang="en-US" dirty="0">
                <a:cs typeface="Times New Roman" panose="02020603050405020304" pitchFamily="18" charset="0"/>
              </a:rPr>
              <a:t>Limitations and Future Scope</a:t>
            </a:r>
          </a:p>
          <a:p>
            <a:r>
              <a:rPr lang="en-US" dirty="0">
                <a:cs typeface="Times New Roman" panose="02020603050405020304" pitchFamily="18" charset="0"/>
              </a:rPr>
              <a:t>References</a:t>
            </a:r>
          </a:p>
          <a:p>
            <a:endParaRPr lang="en-IN" dirty="0">
              <a:cs typeface="Times New Roman" panose="02020603050405020304" pitchFamily="18" charset="0"/>
            </a:endParaRPr>
          </a:p>
        </p:txBody>
      </p:sp>
    </p:spTree>
    <p:extLst>
      <p:ext uri="{BB962C8B-B14F-4D97-AF65-F5344CB8AC3E}">
        <p14:creationId xmlns:p14="http://schemas.microsoft.com/office/powerpoint/2010/main" val="2072707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01CCB-D570-6D52-853D-9E707768BD26}"/>
              </a:ext>
            </a:extLst>
          </p:cNvPr>
          <p:cNvSpPr>
            <a:spLocks noGrp="1"/>
          </p:cNvSpPr>
          <p:nvPr>
            <p:ph type="title"/>
          </p:nvPr>
        </p:nvSpPr>
        <p:spPr>
          <a:xfrm>
            <a:off x="329668" y="327150"/>
            <a:ext cx="10396882" cy="1151965"/>
          </a:xfrm>
        </p:spPr>
        <p:txBody>
          <a:bodyPr/>
          <a:lstStyle/>
          <a:p>
            <a:r>
              <a:rPr lang="en-IN" dirty="0"/>
              <a:t>Introduction</a:t>
            </a:r>
          </a:p>
        </p:txBody>
      </p:sp>
      <p:sp>
        <p:nvSpPr>
          <p:cNvPr id="3" name="Content Placeholder 2">
            <a:extLst>
              <a:ext uri="{FF2B5EF4-FFF2-40B4-BE49-F238E27FC236}">
                <a16:creationId xmlns:a16="http://schemas.microsoft.com/office/drawing/2014/main" id="{0A006AF3-B815-D300-F0EE-7CF2E809B701}"/>
              </a:ext>
            </a:extLst>
          </p:cNvPr>
          <p:cNvSpPr>
            <a:spLocks noGrp="1"/>
          </p:cNvSpPr>
          <p:nvPr>
            <p:ph idx="1"/>
          </p:nvPr>
        </p:nvSpPr>
        <p:spPr>
          <a:xfrm>
            <a:off x="270309" y="1251285"/>
            <a:ext cx="9393455" cy="4697128"/>
          </a:xfrm>
        </p:spPr>
        <p:txBody>
          <a:bodyPr>
            <a:normAutofit/>
          </a:bodyPr>
          <a:lstStyle/>
          <a:p>
            <a:pPr algn="just"/>
            <a:r>
              <a:rPr lang="en-IN" dirty="0">
                <a:effectLst/>
                <a:ea typeface="Calibri" panose="020F0502020204030204" pitchFamily="34" charset="0"/>
                <a:cs typeface="Times New Roman" panose="02020603050405020304" pitchFamily="18" charset="0"/>
              </a:rPr>
              <a:t>Accurate sales prediction plays a pivotal role in modern business strategies, enabling effective resource allocation, inventory management, and decision-making. </a:t>
            </a:r>
          </a:p>
          <a:p>
            <a:pPr algn="just"/>
            <a:r>
              <a:rPr lang="en-IN" dirty="0">
                <a:effectLst/>
                <a:ea typeface="Calibri" panose="020F0502020204030204" pitchFamily="34" charset="0"/>
                <a:cs typeface="Times New Roman" panose="02020603050405020304" pitchFamily="18" charset="0"/>
              </a:rPr>
              <a:t>This thesis embarks on a comprehensive exploration of sales forecasting, leveraging the capabilities of state-of-the-art machine learning and deep learning techniques.</a:t>
            </a:r>
          </a:p>
          <a:p>
            <a:pPr algn="just"/>
            <a:r>
              <a:rPr lang="en-IN" dirty="0">
                <a:effectLst/>
                <a:ea typeface="Calibri" panose="020F0502020204030204" pitchFamily="34" charset="0"/>
                <a:cs typeface="Times New Roman" panose="02020603050405020304" pitchFamily="18" charset="0"/>
              </a:rPr>
              <a:t> The focal point of this study is the Amazon Sales Dataset, a rich repository encompassing various dimensions such as date, store, department, and economic indicators. </a:t>
            </a:r>
          </a:p>
          <a:p>
            <a:pPr algn="just"/>
            <a:r>
              <a:rPr lang="en-IN" dirty="0">
                <a:effectLst/>
                <a:ea typeface="Calibri" panose="020F0502020204030204" pitchFamily="34" charset="0"/>
                <a:cs typeface="Times New Roman" panose="02020603050405020304" pitchFamily="18" charset="0"/>
              </a:rPr>
              <a:t>The objective is to develop advanced prediction models that can uncover intricate patterns and dependencies embedded within this multifaceted dataset.</a:t>
            </a:r>
          </a:p>
        </p:txBody>
      </p:sp>
    </p:spTree>
    <p:extLst>
      <p:ext uri="{BB962C8B-B14F-4D97-AF65-F5344CB8AC3E}">
        <p14:creationId xmlns:p14="http://schemas.microsoft.com/office/powerpoint/2010/main" val="1841397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F99C5-4871-69EF-D833-C08E5ABB810E}"/>
              </a:ext>
            </a:extLst>
          </p:cNvPr>
          <p:cNvSpPr>
            <a:spLocks noGrp="1"/>
          </p:cNvSpPr>
          <p:nvPr>
            <p:ph type="title"/>
          </p:nvPr>
        </p:nvSpPr>
        <p:spPr/>
        <p:txBody>
          <a:bodyPr>
            <a:normAutofit/>
          </a:bodyPr>
          <a:lstStyle/>
          <a:p>
            <a:r>
              <a:rPr lang="en-US" dirty="0"/>
              <a:t>Motivation and Problem Statement</a:t>
            </a:r>
            <a:endParaRPr lang="en-IN" dirty="0"/>
          </a:p>
        </p:txBody>
      </p:sp>
      <p:sp>
        <p:nvSpPr>
          <p:cNvPr id="3" name="Content Placeholder 2">
            <a:extLst>
              <a:ext uri="{FF2B5EF4-FFF2-40B4-BE49-F238E27FC236}">
                <a16:creationId xmlns:a16="http://schemas.microsoft.com/office/drawing/2014/main" id="{4B75A48A-4111-1EFA-9C46-1D94BB560C1C}"/>
              </a:ext>
            </a:extLst>
          </p:cNvPr>
          <p:cNvSpPr>
            <a:spLocks noGrp="1"/>
          </p:cNvSpPr>
          <p:nvPr>
            <p:ph idx="1"/>
          </p:nvPr>
        </p:nvSpPr>
        <p:spPr>
          <a:xfrm>
            <a:off x="677333" y="1775578"/>
            <a:ext cx="9188561" cy="3880773"/>
          </a:xfrm>
        </p:spPr>
        <p:txBody>
          <a:bodyPr>
            <a:normAutofit/>
          </a:bodyPr>
          <a:lstStyle/>
          <a:p>
            <a:pPr algn="just"/>
            <a:r>
              <a:rPr lang="en-US" sz="2000" dirty="0">
                <a:ea typeface="Calibri" panose="020F0502020204030204" pitchFamily="34" charset="0"/>
                <a:cs typeface="Times New Roman" panose="02020603050405020304" pitchFamily="18" charset="0"/>
              </a:rPr>
              <a:t>The motivation behind "Future Sales Prediction using Machine Learning and Deep Learning Techniques" is driven by the ever-evolving landscape of business and the critical need for organizations to make data-driven decisions. Sales prediction plays a pivotal role in the success of businesses across various industries. By accurately forecasting future sales, companies can optimize inventory management, streamline supply chains, allocate resources efficiently, and ultimately enhance profitability.</a:t>
            </a:r>
            <a:endParaRPr lang="en-IN" sz="20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18418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F5D41-545D-DFAC-8753-5F78980E42AE}"/>
              </a:ext>
            </a:extLst>
          </p:cNvPr>
          <p:cNvSpPr>
            <a:spLocks noGrp="1"/>
          </p:cNvSpPr>
          <p:nvPr>
            <p:ph type="title"/>
          </p:nvPr>
        </p:nvSpPr>
        <p:spPr>
          <a:xfrm>
            <a:off x="106680" y="153371"/>
            <a:ext cx="10515600" cy="539650"/>
          </a:xfrm>
        </p:spPr>
        <p:txBody>
          <a:bodyPr>
            <a:normAutofit fontScale="90000"/>
          </a:bodyPr>
          <a:lstStyle/>
          <a:p>
            <a:r>
              <a:rPr lang="en-IN" dirty="0"/>
              <a:t>Literature Review</a:t>
            </a:r>
          </a:p>
        </p:txBody>
      </p:sp>
      <p:graphicFrame>
        <p:nvGraphicFramePr>
          <p:cNvPr id="7" name="Content Placeholder 6">
            <a:extLst>
              <a:ext uri="{FF2B5EF4-FFF2-40B4-BE49-F238E27FC236}">
                <a16:creationId xmlns:a16="http://schemas.microsoft.com/office/drawing/2014/main" id="{018D6F6E-8C20-74FD-07CC-8C6C427FD218}"/>
              </a:ext>
            </a:extLst>
          </p:cNvPr>
          <p:cNvGraphicFramePr>
            <a:graphicFrameLocks noGrp="1"/>
          </p:cNvGraphicFramePr>
          <p:nvPr>
            <p:ph idx="1"/>
            <p:extLst>
              <p:ext uri="{D42A27DB-BD31-4B8C-83A1-F6EECF244321}">
                <p14:modId xmlns:p14="http://schemas.microsoft.com/office/powerpoint/2010/main" val="2507414397"/>
              </p:ext>
            </p:extLst>
          </p:nvPr>
        </p:nvGraphicFramePr>
        <p:xfrm>
          <a:off x="442758" y="827771"/>
          <a:ext cx="10953548" cy="5884806"/>
        </p:xfrm>
        <a:graphic>
          <a:graphicData uri="http://schemas.openxmlformats.org/drawingml/2006/table">
            <a:tbl>
              <a:tblPr/>
              <a:tblGrid>
                <a:gridCol w="2738387">
                  <a:extLst>
                    <a:ext uri="{9D8B030D-6E8A-4147-A177-3AD203B41FA5}">
                      <a16:colId xmlns:a16="http://schemas.microsoft.com/office/drawing/2014/main" val="2090542325"/>
                    </a:ext>
                  </a:extLst>
                </a:gridCol>
                <a:gridCol w="2738387">
                  <a:extLst>
                    <a:ext uri="{9D8B030D-6E8A-4147-A177-3AD203B41FA5}">
                      <a16:colId xmlns:a16="http://schemas.microsoft.com/office/drawing/2014/main" val="3121207252"/>
                    </a:ext>
                  </a:extLst>
                </a:gridCol>
                <a:gridCol w="2738387">
                  <a:extLst>
                    <a:ext uri="{9D8B030D-6E8A-4147-A177-3AD203B41FA5}">
                      <a16:colId xmlns:a16="http://schemas.microsoft.com/office/drawing/2014/main" val="2662269988"/>
                    </a:ext>
                  </a:extLst>
                </a:gridCol>
                <a:gridCol w="2738387">
                  <a:extLst>
                    <a:ext uri="{9D8B030D-6E8A-4147-A177-3AD203B41FA5}">
                      <a16:colId xmlns:a16="http://schemas.microsoft.com/office/drawing/2014/main" val="890425736"/>
                    </a:ext>
                  </a:extLst>
                </a:gridCol>
              </a:tblGrid>
              <a:tr h="362446">
                <a:tc>
                  <a:txBody>
                    <a:bodyPr/>
                    <a:lstStyle/>
                    <a:p>
                      <a:pPr algn="l" fontAlgn="b"/>
                      <a:r>
                        <a:rPr lang="en-IN" sz="1200" b="1" dirty="0">
                          <a:solidFill>
                            <a:schemeClr val="bg1"/>
                          </a:solidFill>
                          <a:effectLst/>
                        </a:rPr>
                        <a:t>Authors</a:t>
                      </a:r>
                    </a:p>
                  </a:txBody>
                  <a:tcPr marL="7192" marR="7192" marT="3596" marB="3596" anchor="b">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635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444654"/>
                    </a:solidFill>
                  </a:tcPr>
                </a:tc>
                <a:tc>
                  <a:txBody>
                    <a:bodyPr/>
                    <a:lstStyle/>
                    <a:p>
                      <a:pPr algn="l" fontAlgn="b"/>
                      <a:r>
                        <a:rPr lang="en-IN" sz="1200" b="1">
                          <a:solidFill>
                            <a:schemeClr val="bg1"/>
                          </a:solidFill>
                          <a:effectLst/>
                        </a:rPr>
                        <a:t>Title</a:t>
                      </a:r>
                    </a:p>
                  </a:txBody>
                  <a:tcPr marL="7192" marR="7192" marT="3596" marB="3596" anchor="b">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635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444654"/>
                    </a:solidFill>
                  </a:tcPr>
                </a:tc>
                <a:tc>
                  <a:txBody>
                    <a:bodyPr/>
                    <a:lstStyle/>
                    <a:p>
                      <a:pPr algn="l" fontAlgn="b"/>
                      <a:r>
                        <a:rPr lang="en-IN" sz="1200" b="1">
                          <a:solidFill>
                            <a:schemeClr val="bg1"/>
                          </a:solidFill>
                          <a:effectLst/>
                        </a:rPr>
                        <a:t>Findings</a:t>
                      </a:r>
                    </a:p>
                  </a:txBody>
                  <a:tcPr marL="7192" marR="7192" marT="3596" marB="3596" anchor="b">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635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444654"/>
                    </a:solidFill>
                  </a:tcPr>
                </a:tc>
                <a:tc>
                  <a:txBody>
                    <a:bodyPr/>
                    <a:lstStyle/>
                    <a:p>
                      <a:pPr algn="l" fontAlgn="b"/>
                      <a:r>
                        <a:rPr lang="en-IN" sz="1200" b="1">
                          <a:solidFill>
                            <a:schemeClr val="bg1"/>
                          </a:solidFill>
                          <a:effectLst/>
                        </a:rPr>
                        <a:t>Limitations</a:t>
                      </a:r>
                    </a:p>
                  </a:txBody>
                  <a:tcPr marL="7192" marR="7192" marT="3596" marB="3596" anchor="b">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635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444654"/>
                    </a:solidFill>
                  </a:tcPr>
                </a:tc>
                <a:extLst>
                  <a:ext uri="{0D108BD9-81ED-4DB2-BD59-A6C34878D82A}">
                    <a16:rowId xmlns:a16="http://schemas.microsoft.com/office/drawing/2014/main" val="324769593"/>
                  </a:ext>
                </a:extLst>
              </a:tr>
              <a:tr h="847738">
                <a:tc>
                  <a:txBody>
                    <a:bodyPr/>
                    <a:lstStyle/>
                    <a:p>
                      <a:pPr algn="l" fontAlgn="base"/>
                      <a:r>
                        <a:rPr lang="en-IN" sz="1200">
                          <a:solidFill>
                            <a:schemeClr val="bg1"/>
                          </a:solidFill>
                          <a:effectLst/>
                        </a:rPr>
                        <a:t>Pallathadka et al., (2023)</a:t>
                      </a:r>
                    </a:p>
                  </a:txBody>
                  <a:tcPr marL="7192" marR="7192" marT="3596" marB="3596"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444654"/>
                    </a:solidFill>
                  </a:tcPr>
                </a:tc>
                <a:tc>
                  <a:txBody>
                    <a:bodyPr/>
                    <a:lstStyle/>
                    <a:p>
                      <a:pPr algn="l" fontAlgn="base"/>
                      <a:r>
                        <a:rPr lang="en-US" sz="1200">
                          <a:solidFill>
                            <a:schemeClr val="bg1"/>
                          </a:solidFill>
                          <a:effectLst/>
                        </a:rPr>
                        <a:t>Use of AI in the food industry</a:t>
                      </a:r>
                    </a:p>
                  </a:txBody>
                  <a:tcPr marL="7192" marR="7192" marT="3596" marB="3596"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444654"/>
                    </a:solidFill>
                  </a:tcPr>
                </a:tc>
                <a:tc>
                  <a:txBody>
                    <a:bodyPr/>
                    <a:lstStyle/>
                    <a:p>
                      <a:pPr algn="l" fontAlgn="base"/>
                      <a:r>
                        <a:rPr lang="en-US" sz="1200">
                          <a:solidFill>
                            <a:schemeClr val="bg1"/>
                          </a:solidFill>
                          <a:effectLst/>
                        </a:rPr>
                        <a:t>AI and data science enhance productivity in various food-related businesses by improving quality, supply chain management, packaging, and food safety. AI is also crucial in agricultural sectors through automated farming and intelligent farming.</a:t>
                      </a:r>
                    </a:p>
                  </a:txBody>
                  <a:tcPr marL="7192" marR="7192" marT="3596" marB="3596"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444654"/>
                    </a:solidFill>
                  </a:tcPr>
                </a:tc>
                <a:tc>
                  <a:txBody>
                    <a:bodyPr/>
                    <a:lstStyle/>
                    <a:p>
                      <a:pPr algn="l" fontAlgn="base"/>
                      <a:r>
                        <a:rPr lang="en-IN" sz="1200" dirty="0">
                          <a:solidFill>
                            <a:schemeClr val="bg1"/>
                          </a:solidFill>
                          <a:effectLst/>
                        </a:rPr>
                        <a:t>Not specified.</a:t>
                      </a:r>
                    </a:p>
                  </a:txBody>
                  <a:tcPr marL="7192" marR="7192" marT="3596" marB="3596"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444654"/>
                    </a:solidFill>
                  </a:tcPr>
                </a:tc>
                <a:extLst>
                  <a:ext uri="{0D108BD9-81ED-4DB2-BD59-A6C34878D82A}">
                    <a16:rowId xmlns:a16="http://schemas.microsoft.com/office/drawing/2014/main" val="1340262018"/>
                  </a:ext>
                </a:extLst>
              </a:tr>
              <a:tr h="921813">
                <a:tc>
                  <a:txBody>
                    <a:bodyPr/>
                    <a:lstStyle/>
                    <a:p>
                      <a:pPr algn="l" fontAlgn="base"/>
                      <a:r>
                        <a:rPr lang="en-IN" sz="1200">
                          <a:solidFill>
                            <a:schemeClr val="bg1"/>
                          </a:solidFill>
                          <a:effectLst/>
                        </a:rPr>
                        <a:t>Brei, (2020)</a:t>
                      </a:r>
                    </a:p>
                  </a:txBody>
                  <a:tcPr marL="7192" marR="7192" marT="3596" marB="3596"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444654"/>
                    </a:solidFill>
                  </a:tcPr>
                </a:tc>
                <a:tc>
                  <a:txBody>
                    <a:bodyPr/>
                    <a:lstStyle/>
                    <a:p>
                      <a:pPr algn="l" fontAlgn="base"/>
                      <a:r>
                        <a:rPr lang="en-US" sz="1200">
                          <a:solidFill>
                            <a:schemeClr val="bg1"/>
                          </a:solidFill>
                          <a:effectLst/>
                        </a:rPr>
                        <a:t>Predicting furniture sales using various models</a:t>
                      </a:r>
                    </a:p>
                  </a:txBody>
                  <a:tcPr marL="7192" marR="7192" marT="3596" marB="3596"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444654"/>
                    </a:solidFill>
                  </a:tcPr>
                </a:tc>
                <a:tc>
                  <a:txBody>
                    <a:bodyPr/>
                    <a:lstStyle/>
                    <a:p>
                      <a:pPr algn="l" fontAlgn="base"/>
                      <a:r>
                        <a:rPr lang="en-US" sz="1200">
                          <a:solidFill>
                            <a:schemeClr val="bg1"/>
                          </a:solidFill>
                          <a:effectLst/>
                        </a:rPr>
                        <a:t>Explored various forecasting models, including time-series methods (Triple Exponential Smoothing, SARIMA) and advanced techniques (LSTM, Prophet, CNN). The Stacked LSTM model outperformed others. The Prophet and CNN models also performed well.</a:t>
                      </a:r>
                    </a:p>
                  </a:txBody>
                  <a:tcPr marL="7192" marR="7192" marT="3596" marB="3596"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444654"/>
                    </a:solidFill>
                  </a:tcPr>
                </a:tc>
                <a:tc>
                  <a:txBody>
                    <a:bodyPr/>
                    <a:lstStyle/>
                    <a:p>
                      <a:pPr algn="l" fontAlgn="base"/>
                      <a:r>
                        <a:rPr lang="en-US" sz="1200">
                          <a:solidFill>
                            <a:schemeClr val="bg1"/>
                          </a:solidFill>
                          <a:effectLst/>
                        </a:rPr>
                        <a:t>The limitations of these models are not discussed.</a:t>
                      </a:r>
                    </a:p>
                  </a:txBody>
                  <a:tcPr marL="7192" marR="7192" marT="3596" marB="3596"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444654"/>
                    </a:solidFill>
                  </a:tcPr>
                </a:tc>
                <a:extLst>
                  <a:ext uri="{0D108BD9-81ED-4DB2-BD59-A6C34878D82A}">
                    <a16:rowId xmlns:a16="http://schemas.microsoft.com/office/drawing/2014/main" val="2821883614"/>
                  </a:ext>
                </a:extLst>
              </a:tr>
              <a:tr h="798356">
                <a:tc>
                  <a:txBody>
                    <a:bodyPr/>
                    <a:lstStyle/>
                    <a:p>
                      <a:pPr algn="l" fontAlgn="base"/>
                      <a:r>
                        <a:rPr lang="en-IN" sz="1200">
                          <a:solidFill>
                            <a:schemeClr val="bg1"/>
                          </a:solidFill>
                          <a:effectLst/>
                        </a:rPr>
                        <a:t>Kumar et al., (2021)</a:t>
                      </a:r>
                    </a:p>
                  </a:txBody>
                  <a:tcPr marL="7192" marR="7192" marT="3596" marB="3596"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444654"/>
                    </a:solidFill>
                  </a:tcPr>
                </a:tc>
                <a:tc>
                  <a:txBody>
                    <a:bodyPr/>
                    <a:lstStyle/>
                    <a:p>
                      <a:pPr algn="l" fontAlgn="base"/>
                      <a:r>
                        <a:rPr lang="en-US" sz="1200">
                          <a:solidFill>
                            <a:schemeClr val="bg1"/>
                          </a:solidFill>
                          <a:effectLst/>
                        </a:rPr>
                        <a:t>Machine learning's impact on marketing</a:t>
                      </a:r>
                    </a:p>
                  </a:txBody>
                  <a:tcPr marL="7192" marR="7192" marT="3596" marB="3596"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444654"/>
                    </a:solidFill>
                  </a:tcPr>
                </a:tc>
                <a:tc>
                  <a:txBody>
                    <a:bodyPr/>
                    <a:lstStyle/>
                    <a:p>
                      <a:pPr algn="l" fontAlgn="base"/>
                      <a:r>
                        <a:rPr lang="en-US" sz="1200">
                          <a:solidFill>
                            <a:schemeClr val="bg1"/>
                          </a:solidFill>
                          <a:effectLst/>
                        </a:rPr>
                        <a:t>Provides an overview of machine learning in marketing, learning approaches, reviews recent research in marketing and machine learning, and explores the future impact of machine learning on the marketing industry.</a:t>
                      </a:r>
                    </a:p>
                  </a:txBody>
                  <a:tcPr marL="7192" marR="7192" marT="3596" marB="3596"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444654"/>
                    </a:solidFill>
                  </a:tcPr>
                </a:tc>
                <a:tc>
                  <a:txBody>
                    <a:bodyPr/>
                    <a:lstStyle/>
                    <a:p>
                      <a:pPr algn="l" fontAlgn="base"/>
                      <a:r>
                        <a:rPr lang="en-US" sz="1200">
                          <a:solidFill>
                            <a:schemeClr val="bg1"/>
                          </a:solidFill>
                          <a:effectLst/>
                        </a:rPr>
                        <a:t>Does not discuss specific findings or limitations related to machine learning in marketing.</a:t>
                      </a:r>
                    </a:p>
                  </a:txBody>
                  <a:tcPr marL="7192" marR="7192" marT="3596" marB="3596"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444654"/>
                    </a:solidFill>
                  </a:tcPr>
                </a:tc>
                <a:extLst>
                  <a:ext uri="{0D108BD9-81ED-4DB2-BD59-A6C34878D82A}">
                    <a16:rowId xmlns:a16="http://schemas.microsoft.com/office/drawing/2014/main" val="168045174"/>
                  </a:ext>
                </a:extLst>
              </a:tr>
              <a:tr h="576133">
                <a:tc>
                  <a:txBody>
                    <a:bodyPr/>
                    <a:lstStyle/>
                    <a:p>
                      <a:pPr algn="l" fontAlgn="base"/>
                      <a:r>
                        <a:rPr lang="en-IN" sz="1200">
                          <a:solidFill>
                            <a:schemeClr val="bg1"/>
                          </a:solidFill>
                          <a:effectLst/>
                        </a:rPr>
                        <a:t>Javed Awan et al., (2021)</a:t>
                      </a:r>
                    </a:p>
                  </a:txBody>
                  <a:tcPr marL="7192" marR="7192" marT="3596" marB="3596"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444654"/>
                    </a:solidFill>
                  </a:tcPr>
                </a:tc>
                <a:tc>
                  <a:txBody>
                    <a:bodyPr/>
                    <a:lstStyle/>
                    <a:p>
                      <a:pPr algn="l" fontAlgn="base"/>
                      <a:r>
                        <a:rPr lang="en-US" sz="1200">
                          <a:solidFill>
                            <a:schemeClr val="bg1"/>
                          </a:solidFill>
                          <a:effectLst/>
                        </a:rPr>
                        <a:t>AI's role in improving food businesses</a:t>
                      </a:r>
                    </a:p>
                  </a:txBody>
                  <a:tcPr marL="7192" marR="7192" marT="3596" marB="3596"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444654"/>
                    </a:solidFill>
                  </a:tcPr>
                </a:tc>
                <a:tc>
                  <a:txBody>
                    <a:bodyPr/>
                    <a:lstStyle/>
                    <a:p>
                      <a:pPr algn="l" fontAlgn="base"/>
                      <a:r>
                        <a:rPr lang="en-US" sz="1200">
                          <a:solidFill>
                            <a:schemeClr val="bg1"/>
                          </a:solidFill>
                          <a:effectLst/>
                        </a:rPr>
                        <a:t>AI enhances productivity, quality, supply chain management, packaging, food safety, and agricultural practices in various food-related businesses.</a:t>
                      </a:r>
                    </a:p>
                  </a:txBody>
                  <a:tcPr marL="7192" marR="7192" marT="3596" marB="3596"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444654"/>
                    </a:solidFill>
                  </a:tcPr>
                </a:tc>
                <a:tc>
                  <a:txBody>
                    <a:bodyPr/>
                    <a:lstStyle/>
                    <a:p>
                      <a:pPr algn="l" fontAlgn="base"/>
                      <a:r>
                        <a:rPr lang="en-IN" sz="1200">
                          <a:solidFill>
                            <a:schemeClr val="bg1"/>
                          </a:solidFill>
                          <a:effectLst/>
                        </a:rPr>
                        <a:t>Not specified.</a:t>
                      </a:r>
                    </a:p>
                  </a:txBody>
                  <a:tcPr marL="7192" marR="7192" marT="3596" marB="3596"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444654"/>
                    </a:solidFill>
                  </a:tcPr>
                </a:tc>
                <a:extLst>
                  <a:ext uri="{0D108BD9-81ED-4DB2-BD59-A6C34878D82A}">
                    <a16:rowId xmlns:a16="http://schemas.microsoft.com/office/drawing/2014/main" val="931868783"/>
                  </a:ext>
                </a:extLst>
              </a:tr>
              <a:tr h="823047">
                <a:tc>
                  <a:txBody>
                    <a:bodyPr/>
                    <a:lstStyle/>
                    <a:p>
                      <a:pPr algn="l" fontAlgn="base"/>
                      <a:r>
                        <a:rPr lang="en-IN" sz="1200">
                          <a:solidFill>
                            <a:schemeClr val="bg1"/>
                          </a:solidFill>
                          <a:effectLst/>
                        </a:rPr>
                        <a:t>Tao et al., (2019)</a:t>
                      </a:r>
                    </a:p>
                  </a:txBody>
                  <a:tcPr marL="7192" marR="7192" marT="3596" marB="3596"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444654"/>
                    </a:solidFill>
                  </a:tcPr>
                </a:tc>
                <a:tc>
                  <a:txBody>
                    <a:bodyPr/>
                    <a:lstStyle/>
                    <a:p>
                      <a:pPr algn="l" fontAlgn="base"/>
                      <a:r>
                        <a:rPr lang="en-US" sz="1200">
                          <a:solidFill>
                            <a:schemeClr val="bg1"/>
                          </a:solidFill>
                          <a:effectLst/>
                        </a:rPr>
                        <a:t>Predicting Black Friday sales with machine learning</a:t>
                      </a:r>
                    </a:p>
                  </a:txBody>
                  <a:tcPr marL="7192" marR="7192" marT="3596" marB="3596"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444654"/>
                    </a:solidFill>
                  </a:tcPr>
                </a:tc>
                <a:tc>
                  <a:txBody>
                    <a:bodyPr/>
                    <a:lstStyle/>
                    <a:p>
                      <a:pPr algn="l" fontAlgn="base"/>
                      <a:r>
                        <a:rPr lang="en-US" sz="1200" dirty="0">
                          <a:solidFill>
                            <a:schemeClr val="bg1"/>
                          </a:solidFill>
                          <a:effectLst/>
                        </a:rPr>
                        <a:t>Used a dataset from Kaggle with over 550,000 observations to predict sales prices and sales using linear regression and random forest models. Improved accuracy by incorporating the Spark framework and big data infrastructure.</a:t>
                      </a:r>
                    </a:p>
                  </a:txBody>
                  <a:tcPr marL="7192" marR="7192" marT="3596" marB="3596"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444654"/>
                    </a:solidFill>
                  </a:tcPr>
                </a:tc>
                <a:tc>
                  <a:txBody>
                    <a:bodyPr/>
                    <a:lstStyle/>
                    <a:p>
                      <a:pPr algn="l" fontAlgn="base"/>
                      <a:r>
                        <a:rPr lang="en-US" sz="1200" dirty="0">
                          <a:solidFill>
                            <a:schemeClr val="bg1"/>
                          </a:solidFill>
                          <a:effectLst/>
                        </a:rPr>
                        <a:t>Does not provide details on limitations other than mentioning the dataset and the modeling framework used.</a:t>
                      </a:r>
                    </a:p>
                  </a:txBody>
                  <a:tcPr marL="7192" marR="7192" marT="3596" marB="3596"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444654"/>
                    </a:solidFill>
                  </a:tcPr>
                </a:tc>
                <a:extLst>
                  <a:ext uri="{0D108BD9-81ED-4DB2-BD59-A6C34878D82A}">
                    <a16:rowId xmlns:a16="http://schemas.microsoft.com/office/drawing/2014/main" val="1071952166"/>
                  </a:ext>
                </a:extLst>
              </a:tr>
            </a:tbl>
          </a:graphicData>
        </a:graphic>
      </p:graphicFrame>
    </p:spTree>
    <p:extLst>
      <p:ext uri="{BB962C8B-B14F-4D97-AF65-F5344CB8AC3E}">
        <p14:creationId xmlns:p14="http://schemas.microsoft.com/office/powerpoint/2010/main" val="3656977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40EF0-5226-3FEB-EE88-3EAE268363C3}"/>
              </a:ext>
            </a:extLst>
          </p:cNvPr>
          <p:cNvSpPr>
            <a:spLocks noGrp="1"/>
          </p:cNvSpPr>
          <p:nvPr>
            <p:ph type="title"/>
          </p:nvPr>
        </p:nvSpPr>
        <p:spPr/>
        <p:txBody>
          <a:bodyPr/>
          <a:lstStyle/>
          <a:p>
            <a:r>
              <a:rPr lang="en-US" dirty="0"/>
              <a:t>The Novelty and The Methodology</a:t>
            </a:r>
            <a:endParaRPr lang="en-IN" dirty="0"/>
          </a:p>
        </p:txBody>
      </p:sp>
      <p:pic>
        <p:nvPicPr>
          <p:cNvPr id="4" name="Content Placeholder 3">
            <a:extLst>
              <a:ext uri="{FF2B5EF4-FFF2-40B4-BE49-F238E27FC236}">
                <a16:creationId xmlns:a16="http://schemas.microsoft.com/office/drawing/2014/main" id="{DD5B2C81-B21B-C059-CE99-BAADC8C1FDE4}"/>
              </a:ext>
            </a:extLst>
          </p:cNvPr>
          <p:cNvPicPr>
            <a:picLocks noGrp="1" noChangeAspect="1"/>
          </p:cNvPicPr>
          <p:nvPr>
            <p:ph idx="1"/>
          </p:nvPr>
        </p:nvPicPr>
        <p:blipFill>
          <a:blip r:embed="rId2"/>
          <a:stretch>
            <a:fillRect/>
          </a:stretch>
        </p:blipFill>
        <p:spPr>
          <a:xfrm>
            <a:off x="8329712" y="1690688"/>
            <a:ext cx="1495425" cy="3733800"/>
          </a:xfrm>
          <a:prstGeom prst="rect">
            <a:avLst/>
          </a:prstGeom>
        </p:spPr>
      </p:pic>
      <p:sp>
        <p:nvSpPr>
          <p:cNvPr id="5" name="TextBox 4">
            <a:extLst>
              <a:ext uri="{FF2B5EF4-FFF2-40B4-BE49-F238E27FC236}">
                <a16:creationId xmlns:a16="http://schemas.microsoft.com/office/drawing/2014/main" id="{CBEBA5FD-CEC3-64EC-A6C7-0ECDDDBFA508}"/>
              </a:ext>
            </a:extLst>
          </p:cNvPr>
          <p:cNvSpPr txBox="1"/>
          <p:nvPr/>
        </p:nvSpPr>
        <p:spPr>
          <a:xfrm>
            <a:off x="962526" y="1963554"/>
            <a:ext cx="7026442" cy="2523768"/>
          </a:xfrm>
          <a:prstGeom prst="rect">
            <a:avLst/>
          </a:prstGeom>
          <a:noFill/>
        </p:spPr>
        <p:txBody>
          <a:bodyPr wrap="square" rtlCol="0">
            <a:spAutoFit/>
          </a:bodyPr>
          <a:lstStyle/>
          <a:p>
            <a:pPr marL="285750" indent="-285750">
              <a:buFont typeface="Wingdings" panose="05000000000000000000" pitchFamily="2" charset="2"/>
              <a:buChar char="Ø"/>
            </a:pPr>
            <a:r>
              <a:rPr lang="en-US" sz="2400" dirty="0">
                <a:cs typeface="Times New Roman" panose="02020603050405020304" pitchFamily="18" charset="0"/>
              </a:rPr>
              <a:t>The Methodology</a:t>
            </a:r>
          </a:p>
          <a:p>
            <a:pPr marL="742950" lvl="1" indent="-285750">
              <a:buFont typeface="Wingdings" panose="05000000000000000000" pitchFamily="2" charset="2"/>
              <a:buChar char="Ø"/>
            </a:pPr>
            <a:r>
              <a:rPr lang="en-US" sz="2400" dirty="0">
                <a:cs typeface="Times New Roman" panose="02020603050405020304" pitchFamily="18" charset="0"/>
              </a:rPr>
              <a:t>Dataset</a:t>
            </a:r>
          </a:p>
          <a:p>
            <a:pPr marL="742950" lvl="1" indent="-285750">
              <a:buFont typeface="Wingdings" panose="05000000000000000000" pitchFamily="2" charset="2"/>
              <a:buChar char="Ø"/>
            </a:pPr>
            <a:r>
              <a:rPr lang="en-US" sz="2400" dirty="0">
                <a:cs typeface="Times New Roman" panose="02020603050405020304" pitchFamily="18" charset="0"/>
              </a:rPr>
              <a:t>Data Visualization using Python and Tableau</a:t>
            </a:r>
          </a:p>
          <a:p>
            <a:pPr marL="742950" lvl="1" indent="-285750">
              <a:buFont typeface="Wingdings" panose="05000000000000000000" pitchFamily="2" charset="2"/>
              <a:buChar char="Ø"/>
            </a:pPr>
            <a:r>
              <a:rPr lang="en-US" sz="2400" dirty="0">
                <a:cs typeface="Times New Roman" panose="02020603050405020304" pitchFamily="18" charset="0"/>
              </a:rPr>
              <a:t>Pre-processing</a:t>
            </a:r>
          </a:p>
          <a:p>
            <a:pPr marL="742950" lvl="1" indent="-285750">
              <a:buFont typeface="Wingdings" panose="05000000000000000000" pitchFamily="2" charset="2"/>
              <a:buChar char="Ø"/>
            </a:pPr>
            <a:r>
              <a:rPr lang="en-US" sz="2400" dirty="0">
                <a:cs typeface="Times New Roman" panose="02020603050405020304" pitchFamily="18" charset="0"/>
              </a:rPr>
              <a:t>Modeling</a:t>
            </a:r>
          </a:p>
          <a:p>
            <a:pPr marL="742950" lvl="1" indent="-285750">
              <a:buFont typeface="Wingdings" panose="05000000000000000000" pitchFamily="2" charset="2"/>
              <a:buChar char="Ø"/>
            </a:pPr>
            <a:r>
              <a:rPr lang="en-US" sz="2400" dirty="0">
                <a:cs typeface="Times New Roman" panose="02020603050405020304" pitchFamily="18" charset="0"/>
              </a:rPr>
              <a:t>Evaluation</a:t>
            </a:r>
          </a:p>
          <a:p>
            <a:endParaRPr lang="en-IN" sz="1400" dirty="0">
              <a:cs typeface="Times New Roman" panose="02020603050405020304" pitchFamily="18" charset="0"/>
            </a:endParaRPr>
          </a:p>
        </p:txBody>
      </p:sp>
    </p:spTree>
    <p:extLst>
      <p:ext uri="{BB962C8B-B14F-4D97-AF65-F5344CB8AC3E}">
        <p14:creationId xmlns:p14="http://schemas.microsoft.com/office/powerpoint/2010/main" val="1841796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F58F3-722A-6303-D7E4-D324339E5D2D}"/>
              </a:ext>
            </a:extLst>
          </p:cNvPr>
          <p:cNvSpPr>
            <a:spLocks noGrp="1"/>
          </p:cNvSpPr>
          <p:nvPr>
            <p:ph type="title"/>
          </p:nvPr>
        </p:nvSpPr>
        <p:spPr>
          <a:xfrm>
            <a:off x="251059" y="153370"/>
            <a:ext cx="10515600" cy="1325563"/>
          </a:xfrm>
        </p:spPr>
        <p:txBody>
          <a:bodyPr/>
          <a:lstStyle/>
          <a:p>
            <a:r>
              <a:rPr lang="en-US" dirty="0"/>
              <a:t>The Novelty and The Methodology</a:t>
            </a:r>
            <a:endParaRPr lang="en-IN" dirty="0"/>
          </a:p>
        </p:txBody>
      </p:sp>
      <p:sp>
        <p:nvSpPr>
          <p:cNvPr id="3" name="Content Placeholder 2">
            <a:extLst>
              <a:ext uri="{FF2B5EF4-FFF2-40B4-BE49-F238E27FC236}">
                <a16:creationId xmlns:a16="http://schemas.microsoft.com/office/drawing/2014/main" id="{E6F36B46-7326-6B36-FD78-F38174067495}"/>
              </a:ext>
            </a:extLst>
          </p:cNvPr>
          <p:cNvSpPr>
            <a:spLocks noGrp="1"/>
          </p:cNvSpPr>
          <p:nvPr>
            <p:ph idx="1"/>
          </p:nvPr>
        </p:nvSpPr>
        <p:spPr>
          <a:xfrm>
            <a:off x="251059" y="1344361"/>
            <a:ext cx="9431956" cy="4912059"/>
          </a:xfrm>
        </p:spPr>
        <p:txBody>
          <a:bodyPr>
            <a:normAutofit/>
          </a:bodyPr>
          <a:lstStyle/>
          <a:p>
            <a:pPr algn="just">
              <a:buFont typeface="+mj-lt"/>
              <a:buAutoNum type="arabicPeriod"/>
            </a:pPr>
            <a:r>
              <a:rPr lang="en-US" b="1" dirty="0">
                <a:ea typeface="Calibri" panose="020F0502020204030204" pitchFamily="34" charset="0"/>
                <a:cs typeface="Times New Roman" panose="02020603050405020304" pitchFamily="18" charset="0"/>
              </a:rPr>
              <a:t>Performance Metrics for Model Assessment:</a:t>
            </a:r>
            <a:r>
              <a:rPr lang="en-US" dirty="0">
                <a:ea typeface="Calibri" panose="020F0502020204030204" pitchFamily="34" charset="0"/>
                <a:cs typeface="Times New Roman" panose="02020603050405020304" pitchFamily="18" charset="0"/>
              </a:rPr>
              <a:t> The study emphasizes the significance of performance metrics such as Mean Squared Error (MSE), Root Mean Squared Error (RMSE), and Mean Absolute Percentage Error (MAPE) in evaluating predictive models. These metrics provide crucial insights into model accuracy and reliability.</a:t>
            </a:r>
          </a:p>
          <a:p>
            <a:pPr algn="just">
              <a:buFont typeface="+mj-lt"/>
              <a:buAutoNum type="arabicPeriod"/>
            </a:pPr>
            <a:r>
              <a:rPr lang="en-US" b="1" dirty="0">
                <a:ea typeface="Calibri" panose="020F0502020204030204" pitchFamily="34" charset="0"/>
                <a:cs typeface="Times New Roman" panose="02020603050405020304" pitchFamily="18" charset="0"/>
              </a:rPr>
              <a:t>Differentiated Model Performance:</a:t>
            </a:r>
            <a:r>
              <a:rPr lang="en-US" dirty="0">
                <a:ea typeface="Calibri" panose="020F0502020204030204" pitchFamily="34" charset="0"/>
                <a:cs typeface="Times New Roman" panose="02020603050405020304" pitchFamily="18" charset="0"/>
              </a:rPr>
              <a:t> The analysis of various predictive models reveals distinctive performance trends. Lower MSE, RMSE, and MAPE values signify superior model performance, indicating predictions that closely align with real-world data.</a:t>
            </a:r>
          </a:p>
          <a:p>
            <a:pPr algn="just">
              <a:buFont typeface="+mj-lt"/>
              <a:buAutoNum type="arabicPeriod"/>
            </a:pPr>
            <a:r>
              <a:rPr lang="en-US" b="1" dirty="0">
                <a:ea typeface="Calibri" panose="020F0502020204030204" pitchFamily="34" charset="0"/>
                <a:cs typeface="Times New Roman" panose="02020603050405020304" pitchFamily="18" charset="0"/>
              </a:rPr>
              <a:t>Model Comparison:</a:t>
            </a:r>
            <a:r>
              <a:rPr lang="en-US" dirty="0">
                <a:ea typeface="Calibri" panose="020F0502020204030204" pitchFamily="34" charset="0"/>
                <a:cs typeface="Times New Roman" panose="02020603050405020304" pitchFamily="18" charset="0"/>
              </a:rPr>
              <a:t> Among the evaluated models, the </a:t>
            </a:r>
            <a:r>
              <a:rPr lang="en-US" dirty="0" err="1">
                <a:ea typeface="Calibri" panose="020F0502020204030204" pitchFamily="34" charset="0"/>
                <a:cs typeface="Times New Roman" panose="02020603050405020304" pitchFamily="18" charset="0"/>
              </a:rPr>
              <a:t>AutoRegressive</a:t>
            </a:r>
            <a:r>
              <a:rPr lang="en-US" dirty="0">
                <a:ea typeface="Calibri" panose="020F0502020204030204" pitchFamily="34" charset="0"/>
                <a:cs typeface="Times New Roman" panose="02020603050405020304" pitchFamily="18" charset="0"/>
              </a:rPr>
              <a:t> Integrated Moving Average (ARIMA) model, although widely used, exhibits challenges in capturing intricate temporal patterns, leading to comparatively elevated errors. In contrast, models like Long Short-Term Memory (LSTM), Recurrent Neural Network (RNN), Graph Neural Network (GNN), and Vector Autoregression (VAR) outperform ARIMA, showcasing proficiency in capturing data intricacies.</a:t>
            </a:r>
          </a:p>
          <a:p>
            <a:endParaRPr lang="en-IN" sz="1100" dirty="0"/>
          </a:p>
        </p:txBody>
      </p:sp>
    </p:spTree>
    <p:extLst>
      <p:ext uri="{BB962C8B-B14F-4D97-AF65-F5344CB8AC3E}">
        <p14:creationId xmlns:p14="http://schemas.microsoft.com/office/powerpoint/2010/main" val="4033638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5225A-FDEE-06FD-39B5-7331F058A6B8}"/>
              </a:ext>
            </a:extLst>
          </p:cNvPr>
          <p:cNvSpPr>
            <a:spLocks noGrp="1"/>
          </p:cNvSpPr>
          <p:nvPr>
            <p:ph type="title"/>
          </p:nvPr>
        </p:nvSpPr>
        <p:spPr>
          <a:xfrm>
            <a:off x="799699" y="365125"/>
            <a:ext cx="10515600" cy="1325563"/>
          </a:xfrm>
        </p:spPr>
        <p:txBody>
          <a:bodyPr/>
          <a:lstStyle/>
          <a:p>
            <a:r>
              <a:rPr lang="en-IN" dirty="0"/>
              <a:t>Results</a:t>
            </a:r>
          </a:p>
        </p:txBody>
      </p:sp>
      <p:graphicFrame>
        <p:nvGraphicFramePr>
          <p:cNvPr id="4" name="Content Placeholder 3">
            <a:extLst>
              <a:ext uri="{FF2B5EF4-FFF2-40B4-BE49-F238E27FC236}">
                <a16:creationId xmlns:a16="http://schemas.microsoft.com/office/drawing/2014/main" id="{5793C48E-C553-C9DD-921D-FD1CD5585DA4}"/>
              </a:ext>
            </a:extLst>
          </p:cNvPr>
          <p:cNvGraphicFramePr>
            <a:graphicFrameLocks noGrp="1"/>
          </p:cNvGraphicFramePr>
          <p:nvPr>
            <p:ph idx="1"/>
            <p:extLst>
              <p:ext uri="{D42A27DB-BD31-4B8C-83A1-F6EECF244321}">
                <p14:modId xmlns:p14="http://schemas.microsoft.com/office/powerpoint/2010/main" val="3784445861"/>
              </p:ext>
            </p:extLst>
          </p:nvPr>
        </p:nvGraphicFramePr>
        <p:xfrm>
          <a:off x="2213810" y="1366789"/>
          <a:ext cx="7190073" cy="3445841"/>
        </p:xfrm>
        <a:graphic>
          <a:graphicData uri="http://schemas.openxmlformats.org/drawingml/2006/table">
            <a:tbl>
              <a:tblPr firstRow="1" firstCol="1" bandRow="1">
                <a:tableStyleId>{5C22544A-7EE6-4342-B048-85BDC9FD1C3A}</a:tableStyleId>
              </a:tblPr>
              <a:tblGrid>
                <a:gridCol w="2396691">
                  <a:extLst>
                    <a:ext uri="{9D8B030D-6E8A-4147-A177-3AD203B41FA5}">
                      <a16:colId xmlns:a16="http://schemas.microsoft.com/office/drawing/2014/main" val="3311959108"/>
                    </a:ext>
                  </a:extLst>
                </a:gridCol>
                <a:gridCol w="2396691">
                  <a:extLst>
                    <a:ext uri="{9D8B030D-6E8A-4147-A177-3AD203B41FA5}">
                      <a16:colId xmlns:a16="http://schemas.microsoft.com/office/drawing/2014/main" val="1391899868"/>
                    </a:ext>
                  </a:extLst>
                </a:gridCol>
                <a:gridCol w="2396691">
                  <a:extLst>
                    <a:ext uri="{9D8B030D-6E8A-4147-A177-3AD203B41FA5}">
                      <a16:colId xmlns:a16="http://schemas.microsoft.com/office/drawing/2014/main" val="1183202026"/>
                    </a:ext>
                  </a:extLst>
                </a:gridCol>
              </a:tblGrid>
              <a:tr h="492263">
                <a:tc>
                  <a:txBody>
                    <a:bodyPr/>
                    <a:lstStyle/>
                    <a:p>
                      <a:pPr algn="ctr">
                        <a:lnSpc>
                          <a:spcPct val="150000"/>
                        </a:lnSpc>
                        <a:spcBef>
                          <a:spcPts val="2000"/>
                        </a:spcBef>
                        <a:spcAft>
                          <a:spcPts val="600"/>
                        </a:spcAft>
                      </a:pPr>
                      <a:r>
                        <a:rPr lang="en-IN" sz="1800">
                          <a:effectLst/>
                        </a:rPr>
                        <a:t>Model</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algn="ctr">
                        <a:lnSpc>
                          <a:spcPct val="150000"/>
                        </a:lnSpc>
                        <a:spcBef>
                          <a:spcPts val="2000"/>
                        </a:spcBef>
                        <a:spcAft>
                          <a:spcPts val="600"/>
                        </a:spcAft>
                      </a:pPr>
                      <a:r>
                        <a:rPr lang="en-IN" sz="1800">
                          <a:effectLst/>
                        </a:rPr>
                        <a:t>MSE</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algn="ctr">
                        <a:lnSpc>
                          <a:spcPct val="150000"/>
                        </a:lnSpc>
                        <a:spcBef>
                          <a:spcPts val="2000"/>
                        </a:spcBef>
                        <a:spcAft>
                          <a:spcPts val="600"/>
                        </a:spcAft>
                      </a:pPr>
                      <a:r>
                        <a:rPr lang="en-IN" sz="1800">
                          <a:effectLst/>
                        </a:rPr>
                        <a:t>MAPE</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extLst>
                  <a:ext uri="{0D108BD9-81ED-4DB2-BD59-A6C34878D82A}">
                    <a16:rowId xmlns:a16="http://schemas.microsoft.com/office/drawing/2014/main" val="2535672995"/>
                  </a:ext>
                </a:extLst>
              </a:tr>
              <a:tr h="492263">
                <a:tc>
                  <a:txBody>
                    <a:bodyPr/>
                    <a:lstStyle/>
                    <a:p>
                      <a:pPr algn="ctr">
                        <a:lnSpc>
                          <a:spcPct val="150000"/>
                        </a:lnSpc>
                        <a:spcBef>
                          <a:spcPts val="2000"/>
                        </a:spcBef>
                        <a:spcAft>
                          <a:spcPts val="600"/>
                        </a:spcAft>
                      </a:pPr>
                      <a:r>
                        <a:rPr lang="en-IN" sz="1800">
                          <a:effectLst/>
                        </a:rPr>
                        <a:t>ARIMA</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algn="ctr">
                        <a:lnSpc>
                          <a:spcPct val="150000"/>
                        </a:lnSpc>
                        <a:spcBef>
                          <a:spcPts val="2000"/>
                        </a:spcBef>
                        <a:spcAft>
                          <a:spcPts val="600"/>
                        </a:spcAft>
                      </a:pPr>
                      <a:r>
                        <a:rPr lang="en-IN" sz="1800">
                          <a:effectLst/>
                        </a:rPr>
                        <a:t>1.076e+14</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algn="ctr">
                        <a:lnSpc>
                          <a:spcPct val="150000"/>
                        </a:lnSpc>
                        <a:spcBef>
                          <a:spcPts val="2000"/>
                        </a:spcBef>
                        <a:spcAft>
                          <a:spcPts val="600"/>
                        </a:spcAft>
                      </a:pPr>
                      <a:r>
                        <a:rPr lang="en-IN" sz="1800">
                          <a:effectLst/>
                        </a:rPr>
                        <a:t>18.76%</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extLst>
                  <a:ext uri="{0D108BD9-81ED-4DB2-BD59-A6C34878D82A}">
                    <a16:rowId xmlns:a16="http://schemas.microsoft.com/office/drawing/2014/main" val="1959482741"/>
                  </a:ext>
                </a:extLst>
              </a:tr>
              <a:tr h="492263">
                <a:tc>
                  <a:txBody>
                    <a:bodyPr/>
                    <a:lstStyle/>
                    <a:p>
                      <a:pPr algn="ctr">
                        <a:lnSpc>
                          <a:spcPct val="150000"/>
                        </a:lnSpc>
                        <a:spcBef>
                          <a:spcPts val="2000"/>
                        </a:spcBef>
                        <a:spcAft>
                          <a:spcPts val="600"/>
                        </a:spcAft>
                      </a:pPr>
                      <a:r>
                        <a:rPr lang="en-IN" sz="1800" dirty="0">
                          <a:effectLst/>
                        </a:rPr>
                        <a:t>LSTM</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algn="ctr">
                        <a:lnSpc>
                          <a:spcPct val="150000"/>
                        </a:lnSpc>
                        <a:spcBef>
                          <a:spcPts val="2000"/>
                        </a:spcBef>
                        <a:spcAft>
                          <a:spcPts val="600"/>
                        </a:spcAft>
                      </a:pPr>
                      <a:r>
                        <a:rPr lang="en-IN" sz="1800">
                          <a:effectLst/>
                        </a:rPr>
                        <a:t>1.902e+13</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algn="ctr">
                        <a:lnSpc>
                          <a:spcPct val="150000"/>
                        </a:lnSpc>
                        <a:spcBef>
                          <a:spcPts val="2000"/>
                        </a:spcBef>
                        <a:spcAft>
                          <a:spcPts val="600"/>
                        </a:spcAft>
                      </a:pPr>
                      <a:r>
                        <a:rPr lang="en-IN" sz="1800">
                          <a:effectLst/>
                        </a:rPr>
                        <a:t>8.35%</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extLst>
                  <a:ext uri="{0D108BD9-81ED-4DB2-BD59-A6C34878D82A}">
                    <a16:rowId xmlns:a16="http://schemas.microsoft.com/office/drawing/2014/main" val="2996347021"/>
                  </a:ext>
                </a:extLst>
              </a:tr>
              <a:tr h="492263">
                <a:tc>
                  <a:txBody>
                    <a:bodyPr/>
                    <a:lstStyle/>
                    <a:p>
                      <a:pPr algn="ctr">
                        <a:lnSpc>
                          <a:spcPct val="150000"/>
                        </a:lnSpc>
                        <a:spcBef>
                          <a:spcPts val="2000"/>
                        </a:spcBef>
                        <a:spcAft>
                          <a:spcPts val="600"/>
                        </a:spcAft>
                      </a:pPr>
                      <a:r>
                        <a:rPr lang="en-IN" sz="1800">
                          <a:effectLst/>
                        </a:rPr>
                        <a:t>Attention Mechanism</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algn="ctr">
                        <a:lnSpc>
                          <a:spcPct val="150000"/>
                        </a:lnSpc>
                        <a:spcBef>
                          <a:spcPts val="2000"/>
                        </a:spcBef>
                        <a:spcAft>
                          <a:spcPts val="600"/>
                        </a:spcAft>
                      </a:pPr>
                      <a:r>
                        <a:rPr lang="en-IN" sz="1800">
                          <a:effectLst/>
                        </a:rPr>
                        <a:t>9.503e+13</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algn="ctr">
                        <a:lnSpc>
                          <a:spcPct val="150000"/>
                        </a:lnSpc>
                        <a:spcBef>
                          <a:spcPts val="2000"/>
                        </a:spcBef>
                        <a:spcAft>
                          <a:spcPts val="600"/>
                        </a:spcAft>
                      </a:pPr>
                      <a:r>
                        <a:rPr lang="en-IN" sz="1800">
                          <a:effectLst/>
                        </a:rPr>
                        <a:t>24.90%</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extLst>
                  <a:ext uri="{0D108BD9-81ED-4DB2-BD59-A6C34878D82A}">
                    <a16:rowId xmlns:a16="http://schemas.microsoft.com/office/drawing/2014/main" val="3456594950"/>
                  </a:ext>
                </a:extLst>
              </a:tr>
              <a:tr h="492263">
                <a:tc>
                  <a:txBody>
                    <a:bodyPr/>
                    <a:lstStyle/>
                    <a:p>
                      <a:pPr algn="ctr">
                        <a:lnSpc>
                          <a:spcPct val="150000"/>
                        </a:lnSpc>
                        <a:spcBef>
                          <a:spcPts val="2000"/>
                        </a:spcBef>
                        <a:spcAft>
                          <a:spcPts val="600"/>
                        </a:spcAft>
                      </a:pPr>
                      <a:r>
                        <a:rPr lang="en-IN" sz="1800">
                          <a:effectLst/>
                        </a:rPr>
                        <a:t>GNN</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algn="ctr">
                        <a:lnSpc>
                          <a:spcPct val="150000"/>
                        </a:lnSpc>
                        <a:spcBef>
                          <a:spcPts val="2000"/>
                        </a:spcBef>
                        <a:spcAft>
                          <a:spcPts val="600"/>
                        </a:spcAft>
                      </a:pPr>
                      <a:r>
                        <a:rPr lang="en-IN" sz="1800">
                          <a:effectLst/>
                        </a:rPr>
                        <a:t>0.000480</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algn="ctr">
                        <a:lnSpc>
                          <a:spcPct val="150000"/>
                        </a:lnSpc>
                        <a:spcBef>
                          <a:spcPts val="2000"/>
                        </a:spcBef>
                        <a:spcAft>
                          <a:spcPts val="600"/>
                        </a:spcAft>
                      </a:pPr>
                      <a:r>
                        <a:rPr lang="en-IN" sz="1800">
                          <a:effectLst/>
                        </a:rPr>
                        <a:t>2.11%</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extLst>
                  <a:ext uri="{0D108BD9-81ED-4DB2-BD59-A6C34878D82A}">
                    <a16:rowId xmlns:a16="http://schemas.microsoft.com/office/drawing/2014/main" val="2812934740"/>
                  </a:ext>
                </a:extLst>
              </a:tr>
              <a:tr h="492263">
                <a:tc>
                  <a:txBody>
                    <a:bodyPr/>
                    <a:lstStyle/>
                    <a:p>
                      <a:pPr algn="ctr">
                        <a:lnSpc>
                          <a:spcPct val="150000"/>
                        </a:lnSpc>
                        <a:spcBef>
                          <a:spcPts val="2000"/>
                        </a:spcBef>
                        <a:spcAft>
                          <a:spcPts val="600"/>
                        </a:spcAft>
                      </a:pPr>
                      <a:r>
                        <a:rPr lang="en-IN" sz="1800">
                          <a:effectLst/>
                        </a:rPr>
                        <a:t>RNN</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algn="ctr">
                        <a:lnSpc>
                          <a:spcPct val="150000"/>
                        </a:lnSpc>
                        <a:spcBef>
                          <a:spcPts val="2000"/>
                        </a:spcBef>
                        <a:spcAft>
                          <a:spcPts val="600"/>
                        </a:spcAft>
                      </a:pPr>
                      <a:r>
                        <a:rPr lang="en-IN" sz="1800">
                          <a:effectLst/>
                        </a:rPr>
                        <a:t>2.093e+13</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algn="ctr">
                        <a:lnSpc>
                          <a:spcPct val="150000"/>
                        </a:lnSpc>
                        <a:spcBef>
                          <a:spcPts val="2000"/>
                        </a:spcBef>
                        <a:spcAft>
                          <a:spcPts val="600"/>
                        </a:spcAft>
                      </a:pPr>
                      <a:r>
                        <a:rPr lang="en-IN" sz="1800">
                          <a:effectLst/>
                        </a:rPr>
                        <a:t>12.39%</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extLst>
                  <a:ext uri="{0D108BD9-81ED-4DB2-BD59-A6C34878D82A}">
                    <a16:rowId xmlns:a16="http://schemas.microsoft.com/office/drawing/2014/main" val="3451062201"/>
                  </a:ext>
                </a:extLst>
              </a:tr>
              <a:tr h="492263">
                <a:tc>
                  <a:txBody>
                    <a:bodyPr/>
                    <a:lstStyle/>
                    <a:p>
                      <a:pPr algn="ctr">
                        <a:lnSpc>
                          <a:spcPct val="150000"/>
                        </a:lnSpc>
                        <a:spcBef>
                          <a:spcPts val="2000"/>
                        </a:spcBef>
                        <a:spcAft>
                          <a:spcPts val="600"/>
                        </a:spcAft>
                      </a:pPr>
                      <a:r>
                        <a:rPr lang="en-IN" sz="1800">
                          <a:effectLst/>
                        </a:rPr>
                        <a:t>VAR</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algn="ctr">
                        <a:lnSpc>
                          <a:spcPct val="150000"/>
                        </a:lnSpc>
                        <a:spcBef>
                          <a:spcPts val="2000"/>
                        </a:spcBef>
                        <a:spcAft>
                          <a:spcPts val="600"/>
                        </a:spcAft>
                      </a:pPr>
                      <a:r>
                        <a:rPr lang="en-IN" sz="1800">
                          <a:effectLst/>
                        </a:rPr>
                        <a:t>8.662e+12</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algn="ctr">
                        <a:lnSpc>
                          <a:spcPct val="150000"/>
                        </a:lnSpc>
                        <a:spcBef>
                          <a:spcPts val="2000"/>
                        </a:spcBef>
                        <a:spcAft>
                          <a:spcPts val="600"/>
                        </a:spcAft>
                      </a:pPr>
                      <a:r>
                        <a:rPr lang="en-IN" sz="1800" dirty="0">
                          <a:effectLst/>
                        </a:rPr>
                        <a:t>7.83%</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extLst>
                  <a:ext uri="{0D108BD9-81ED-4DB2-BD59-A6C34878D82A}">
                    <a16:rowId xmlns:a16="http://schemas.microsoft.com/office/drawing/2014/main" val="466202688"/>
                  </a:ext>
                </a:extLst>
              </a:tr>
            </a:tbl>
          </a:graphicData>
        </a:graphic>
      </p:graphicFrame>
      <p:sp>
        <p:nvSpPr>
          <p:cNvPr id="5" name="TextBox 4">
            <a:extLst>
              <a:ext uri="{FF2B5EF4-FFF2-40B4-BE49-F238E27FC236}">
                <a16:creationId xmlns:a16="http://schemas.microsoft.com/office/drawing/2014/main" id="{43A9827B-A3C3-3F87-4FBB-34E23C0771D2}"/>
              </a:ext>
            </a:extLst>
          </p:cNvPr>
          <p:cNvSpPr txBox="1"/>
          <p:nvPr/>
        </p:nvSpPr>
        <p:spPr>
          <a:xfrm>
            <a:off x="2002055" y="5207267"/>
            <a:ext cx="8171848" cy="369332"/>
          </a:xfrm>
          <a:prstGeom prst="rect">
            <a:avLst/>
          </a:prstGeom>
          <a:noFill/>
        </p:spPr>
        <p:txBody>
          <a:bodyPr wrap="square" rtlCol="0">
            <a:spAutoFit/>
          </a:bodyPr>
          <a:lstStyle/>
          <a:p>
            <a:pPr algn="ctr"/>
            <a:r>
              <a:rPr lang="en-IN" dirty="0"/>
              <a:t>Table Result</a:t>
            </a:r>
          </a:p>
        </p:txBody>
      </p:sp>
    </p:spTree>
    <p:extLst>
      <p:ext uri="{BB962C8B-B14F-4D97-AF65-F5344CB8AC3E}">
        <p14:creationId xmlns:p14="http://schemas.microsoft.com/office/powerpoint/2010/main" val="1678294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7271F-33FB-2E3A-127F-88AFAA2B1295}"/>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7EC982A1-250F-DA62-724D-87214D290641}"/>
              </a:ext>
            </a:extLst>
          </p:cNvPr>
          <p:cNvSpPr>
            <a:spLocks noGrp="1"/>
          </p:cNvSpPr>
          <p:nvPr>
            <p:ph idx="1"/>
          </p:nvPr>
        </p:nvSpPr>
        <p:spPr>
          <a:xfrm>
            <a:off x="677334" y="1852581"/>
            <a:ext cx="8596668" cy="3880773"/>
          </a:xfrm>
        </p:spPr>
        <p:txBody>
          <a:bodyPr>
            <a:normAutofit/>
          </a:bodyPr>
          <a:lstStyle/>
          <a:p>
            <a:pPr algn="just"/>
            <a:r>
              <a:rPr lang="en-IN" dirty="0">
                <a:ea typeface="Calibri" panose="020F0502020204030204" pitchFamily="34" charset="0"/>
                <a:cs typeface="Times New Roman" panose="02020603050405020304" pitchFamily="18" charset="0"/>
              </a:rPr>
              <a:t>Among the evaluated models, the </a:t>
            </a:r>
            <a:r>
              <a:rPr lang="en-IN" dirty="0" err="1">
                <a:ea typeface="Calibri" panose="020F0502020204030204" pitchFamily="34" charset="0"/>
                <a:cs typeface="Times New Roman" panose="02020603050405020304" pitchFamily="18" charset="0"/>
              </a:rPr>
              <a:t>AutoRegressive</a:t>
            </a:r>
            <a:r>
              <a:rPr lang="en-IN" dirty="0">
                <a:ea typeface="Calibri" panose="020F0502020204030204" pitchFamily="34" charset="0"/>
                <a:cs typeface="Times New Roman" panose="02020603050405020304" pitchFamily="18" charset="0"/>
              </a:rPr>
              <a:t> Integrated Moving Average (ARIMA) model, while widely employed, grapples with complexities in capturing intricate temporal patterns. The comparatively elevated MSE, RMSE, and MAPE values highlight notable prediction disparities. In contrast, the Long Short-Term Memory (LSTM) model and Recurrent Neural Network (RNN) outshine ARIMA, demonstrating adeptness in capturing temporal intricacies and yielding diminished errors. The Graph Neural Network (GNN) and Vector Autoregression (VAR) models emerge as frontrunners, showcasing minimal errors and exemplifying proficiency in uncovering intricate data relationships.</a:t>
            </a:r>
          </a:p>
        </p:txBody>
      </p:sp>
    </p:spTree>
    <p:extLst>
      <p:ext uri="{BB962C8B-B14F-4D97-AF65-F5344CB8AC3E}">
        <p14:creationId xmlns:p14="http://schemas.microsoft.com/office/powerpoint/2010/main" val="344629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C6E54-01EE-8E21-A78E-FCF76944660F}"/>
              </a:ext>
            </a:extLst>
          </p:cNvPr>
          <p:cNvSpPr>
            <a:spLocks noGrp="1"/>
          </p:cNvSpPr>
          <p:nvPr>
            <p:ph type="title"/>
          </p:nvPr>
        </p:nvSpPr>
        <p:spPr>
          <a:xfrm>
            <a:off x="270309" y="114868"/>
            <a:ext cx="10515600" cy="1325563"/>
          </a:xfrm>
        </p:spPr>
        <p:txBody>
          <a:bodyPr/>
          <a:lstStyle/>
          <a:p>
            <a:r>
              <a:rPr lang="en-IN" dirty="0"/>
              <a:t>Future work</a:t>
            </a:r>
          </a:p>
        </p:txBody>
      </p:sp>
      <p:sp>
        <p:nvSpPr>
          <p:cNvPr id="3" name="Content Placeholder 2">
            <a:extLst>
              <a:ext uri="{FF2B5EF4-FFF2-40B4-BE49-F238E27FC236}">
                <a16:creationId xmlns:a16="http://schemas.microsoft.com/office/drawing/2014/main" id="{03AA5214-DA61-2F1D-9019-99D4D1351D15}"/>
              </a:ext>
            </a:extLst>
          </p:cNvPr>
          <p:cNvSpPr>
            <a:spLocks noGrp="1"/>
          </p:cNvSpPr>
          <p:nvPr>
            <p:ph idx="1"/>
          </p:nvPr>
        </p:nvSpPr>
        <p:spPr>
          <a:xfrm>
            <a:off x="395438" y="1180731"/>
            <a:ext cx="9451206" cy="4351338"/>
          </a:xfrm>
        </p:spPr>
        <p:txBody>
          <a:bodyPr>
            <a:normAutofit fontScale="92500" lnSpcReduction="20000"/>
          </a:bodyPr>
          <a:lstStyle/>
          <a:p>
            <a:pPr algn="just"/>
            <a:r>
              <a:rPr lang="en-IN" sz="1800" dirty="0">
                <a:effectLst/>
                <a:ea typeface="Calibri" panose="020F0502020204030204" pitchFamily="34" charset="0"/>
              </a:rPr>
              <a:t>Looking ahead, the investigation of advanced machine learning techniques for sales forecasting suggests a horizon brimming with potential avenues for exploration. This study lays the groundwork for future endeavours in this domain. </a:t>
            </a:r>
          </a:p>
          <a:p>
            <a:pPr algn="just"/>
            <a:r>
              <a:rPr lang="en-IN" sz="1800" dirty="0">
                <a:effectLst/>
                <a:ea typeface="Calibri" panose="020F0502020204030204" pitchFamily="34" charset="0"/>
              </a:rPr>
              <a:t>As a natural progression, researchers could delve into synergistic approaches by amalgamating attention mechanisms, GNNs, RNNs, LSTM, ARIMA, and VAR to extract a comprehensive predictive framework that harnesses their respective strengths. Moreover, refining these models for enhanced interpretability, especially attention mechanisms and GNNs, could bridge the gap between accurate predictions and actionable insights.</a:t>
            </a:r>
          </a:p>
          <a:p>
            <a:pPr algn="just"/>
            <a:r>
              <a:rPr lang="en-IN" sz="1800" dirty="0">
                <a:effectLst/>
                <a:ea typeface="Calibri" panose="020F0502020204030204" pitchFamily="34" charset="0"/>
              </a:rPr>
              <a:t> Incorporating external variables such as economic indicators and promotional events into these techniques might amplify their predictive power. Addressing data scarcity through innovative augmentation strategies or adapting models to learn from sparse data holds promise for improving robustness. </a:t>
            </a:r>
          </a:p>
          <a:p>
            <a:pPr algn="just"/>
            <a:r>
              <a:rPr lang="en-IN" sz="1800" dirty="0">
                <a:effectLst/>
                <a:ea typeface="Calibri" panose="020F0502020204030204" pitchFamily="34" charset="0"/>
              </a:rPr>
              <a:t>Additionally, enabling these models to swiftly adapt to real-time changes and adhering to ethical considerations in their deployment are pivotal paths for future exploration. </a:t>
            </a:r>
          </a:p>
          <a:p>
            <a:pPr algn="just"/>
            <a:r>
              <a:rPr lang="en-IN" sz="1800" dirty="0">
                <a:effectLst/>
                <a:ea typeface="Calibri" panose="020F0502020204030204" pitchFamily="34" charset="0"/>
              </a:rPr>
              <a:t>This evolving landscape necessitates interdisciplinary collaboration, inviting expertise from various domains to unlock the full potential of advanced machine learning techniques in revolutionizing sales forecasting accuracy and applicability.</a:t>
            </a:r>
            <a:endParaRPr lang="en-IN" dirty="0"/>
          </a:p>
        </p:txBody>
      </p:sp>
    </p:spTree>
    <p:extLst>
      <p:ext uri="{BB962C8B-B14F-4D97-AF65-F5344CB8AC3E}">
        <p14:creationId xmlns:p14="http://schemas.microsoft.com/office/powerpoint/2010/main" val="1131534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8146D-4301-4708-3253-C7083412C89F}"/>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445AB67D-6B4E-59B7-F7CE-60E25F01E9F5}"/>
              </a:ext>
            </a:extLst>
          </p:cNvPr>
          <p:cNvSpPr>
            <a:spLocks noGrp="1"/>
          </p:cNvSpPr>
          <p:nvPr>
            <p:ph idx="1"/>
          </p:nvPr>
        </p:nvSpPr>
        <p:spPr>
          <a:xfrm>
            <a:off x="677333" y="1488613"/>
            <a:ext cx="9111559" cy="4759787"/>
          </a:xfrm>
        </p:spPr>
        <p:txBody>
          <a:bodyPr>
            <a:noAutofit/>
          </a:bodyPr>
          <a:lstStyle/>
          <a:p>
            <a:pPr marL="342900" lvl="0" indent="-342900" algn="just">
              <a:lnSpc>
                <a:spcPct val="150000"/>
              </a:lnSpc>
              <a:buFont typeface="+mj-lt"/>
              <a:buAutoNum type="arabicPeriod"/>
            </a:pPr>
            <a:r>
              <a:rPr lang="en-IN" sz="1400" i="1" u="none" strike="noStrike" dirty="0" err="1">
                <a:effectLst/>
                <a:highlight>
                  <a:srgbClr val="FFFFFF"/>
                </a:highlight>
                <a:ea typeface="Times New Roman" panose="02020603050405020304" pitchFamily="18" charset="0"/>
              </a:rPr>
              <a:t>Akinosho</a:t>
            </a:r>
            <a:r>
              <a:rPr lang="en-IN" sz="1400" i="1" u="none" strike="noStrike" dirty="0">
                <a:effectLst/>
                <a:highlight>
                  <a:srgbClr val="FFFFFF"/>
                </a:highlight>
                <a:ea typeface="Times New Roman" panose="02020603050405020304" pitchFamily="18" charset="0"/>
              </a:rPr>
              <a:t>, T.D., </a:t>
            </a:r>
            <a:r>
              <a:rPr lang="en-IN" sz="1400" i="1" u="none" strike="noStrike" dirty="0" err="1">
                <a:effectLst/>
                <a:highlight>
                  <a:srgbClr val="FFFFFF"/>
                </a:highlight>
                <a:ea typeface="Times New Roman" panose="02020603050405020304" pitchFamily="18" charset="0"/>
              </a:rPr>
              <a:t>Oyedele</a:t>
            </a:r>
            <a:r>
              <a:rPr lang="en-IN" sz="1400" i="1" u="none" strike="noStrike" dirty="0">
                <a:effectLst/>
                <a:highlight>
                  <a:srgbClr val="FFFFFF"/>
                </a:highlight>
                <a:ea typeface="Times New Roman" panose="02020603050405020304" pitchFamily="18" charset="0"/>
              </a:rPr>
              <a:t>, L.O., Bilal, M., Ajayi, A.O., Delgado, M.D., </a:t>
            </a:r>
            <a:r>
              <a:rPr lang="en-IN" sz="1400" i="1" u="none" strike="noStrike" dirty="0" err="1">
                <a:effectLst/>
                <a:highlight>
                  <a:srgbClr val="FFFFFF"/>
                </a:highlight>
                <a:ea typeface="Times New Roman" panose="02020603050405020304" pitchFamily="18" charset="0"/>
              </a:rPr>
              <a:t>Akinade</a:t>
            </a:r>
            <a:r>
              <a:rPr lang="en-IN" sz="1400" i="1" u="none" strike="noStrike" dirty="0">
                <a:effectLst/>
                <a:highlight>
                  <a:srgbClr val="FFFFFF"/>
                </a:highlight>
                <a:ea typeface="Times New Roman" panose="02020603050405020304" pitchFamily="18" charset="0"/>
              </a:rPr>
              <a:t>, O.O. and Ahmed, A.A., 2020. "Deep learning" in the construction industry: A review of present status and future innovations. Journal of Building Engineering, 32, p.101827.</a:t>
            </a:r>
          </a:p>
          <a:p>
            <a:pPr marL="342900" lvl="0" indent="-342900" algn="just">
              <a:lnSpc>
                <a:spcPct val="150000"/>
              </a:lnSpc>
              <a:buFont typeface="+mj-lt"/>
              <a:buAutoNum type="arabicPeriod"/>
            </a:pPr>
            <a:r>
              <a:rPr lang="en-IN" sz="1400" i="1" u="none" strike="noStrike" dirty="0">
                <a:effectLst/>
                <a:highlight>
                  <a:srgbClr val="FFFFFF"/>
                </a:highlight>
                <a:ea typeface="Times New Roman" panose="02020603050405020304" pitchFamily="18" charset="0"/>
              </a:rPr>
              <a:t>Al-</a:t>
            </a:r>
            <a:r>
              <a:rPr lang="en-IN" sz="1400" i="1" u="none" strike="noStrike" dirty="0" err="1">
                <a:effectLst/>
                <a:highlight>
                  <a:srgbClr val="FFFFFF"/>
                </a:highlight>
                <a:ea typeface="Times New Roman" panose="02020603050405020304" pitchFamily="18" charset="0"/>
              </a:rPr>
              <a:t>Mobayed</a:t>
            </a:r>
            <a:r>
              <a:rPr lang="en-IN" sz="1400" i="1" u="none" strike="noStrike" dirty="0">
                <a:effectLst/>
                <a:highlight>
                  <a:srgbClr val="FFFFFF"/>
                </a:highlight>
                <a:ea typeface="Times New Roman" panose="02020603050405020304" pitchFamily="18" charset="0"/>
              </a:rPr>
              <a:t>, A.A., Al-Madhoun, Y.M., Al-Shuwaikh, M.N. and Abu-Naser, S.S., 2020. Artificial Neural Network for Predicting Car Performance Using JNN.</a:t>
            </a:r>
          </a:p>
          <a:p>
            <a:pPr marL="342900" lvl="0" indent="-342900" algn="just">
              <a:lnSpc>
                <a:spcPct val="150000"/>
              </a:lnSpc>
              <a:buFont typeface="+mj-lt"/>
              <a:buAutoNum type="arabicPeriod"/>
            </a:pPr>
            <a:r>
              <a:rPr lang="en-IN" sz="1400" i="1" u="none" strike="noStrike" dirty="0">
                <a:effectLst/>
                <a:highlight>
                  <a:srgbClr val="FFFFFF"/>
                </a:highlight>
                <a:ea typeface="Times New Roman" panose="02020603050405020304" pitchFamily="18" charset="0"/>
              </a:rPr>
              <a:t>Amir, W.K.H.W.K., </a:t>
            </a:r>
            <a:r>
              <a:rPr lang="en-IN" sz="1400" i="1" u="none" strike="noStrike" dirty="0" err="1">
                <a:effectLst/>
                <a:highlight>
                  <a:srgbClr val="FFFFFF"/>
                </a:highlight>
                <a:ea typeface="Times New Roman" panose="02020603050405020304" pitchFamily="18" charset="0"/>
              </a:rPr>
              <a:t>Soom</a:t>
            </a:r>
            <a:r>
              <a:rPr lang="en-IN" sz="1400" i="1" u="none" strike="noStrike" dirty="0">
                <a:effectLst/>
                <a:highlight>
                  <a:srgbClr val="FFFFFF"/>
                </a:highlight>
                <a:ea typeface="Times New Roman" panose="02020603050405020304" pitchFamily="18" charset="0"/>
              </a:rPr>
              <a:t>, A.B.M., </a:t>
            </a:r>
            <a:r>
              <a:rPr lang="en-IN" sz="1400" i="1" u="none" strike="noStrike" dirty="0" err="1">
                <a:effectLst/>
                <a:highlight>
                  <a:srgbClr val="FFFFFF"/>
                </a:highlight>
                <a:ea typeface="Times New Roman" panose="02020603050405020304" pitchFamily="18" charset="0"/>
              </a:rPr>
              <a:t>Jasin</a:t>
            </a:r>
            <a:r>
              <a:rPr lang="en-IN" sz="1400" i="1" u="none" strike="noStrike" dirty="0">
                <a:effectLst/>
                <a:highlight>
                  <a:srgbClr val="FFFFFF"/>
                </a:highlight>
                <a:ea typeface="Times New Roman" panose="02020603050405020304" pitchFamily="18" charset="0"/>
              </a:rPr>
              <a:t>, A.M., Ismail, J. and Asmat, A., 2023. Sales Forecasting Using Convolution Neural Network. Journal of Advanced Research in Applied Sciences and Engineering Technology, 30(3), pp.290-301.</a:t>
            </a:r>
          </a:p>
          <a:p>
            <a:pPr marL="342900" lvl="0" indent="-342900" algn="just">
              <a:lnSpc>
                <a:spcPct val="150000"/>
              </a:lnSpc>
              <a:buFont typeface="+mj-lt"/>
              <a:buAutoNum type="arabicPeriod"/>
            </a:pPr>
            <a:r>
              <a:rPr lang="en-IN" sz="1400" i="1" u="none" strike="noStrike" dirty="0">
                <a:effectLst/>
                <a:highlight>
                  <a:srgbClr val="FFFFFF"/>
                </a:highlight>
                <a:ea typeface="Times New Roman" panose="02020603050405020304" pitchFamily="18" charset="0"/>
              </a:rPr>
              <a:t>Bandari, V., 2019. The Impact of Artificial Intelligence on the Revenue Growth of Small Businesses in Developing Countries: An Empirical Study. Reviews of Contemporary Business Analytics, 2(1), pp.33-44.</a:t>
            </a:r>
          </a:p>
          <a:p>
            <a:pPr marL="342900" lvl="0" indent="-342900" algn="just">
              <a:lnSpc>
                <a:spcPct val="150000"/>
              </a:lnSpc>
              <a:buFont typeface="+mj-lt"/>
              <a:buAutoNum type="arabicPeriod"/>
            </a:pPr>
            <a:r>
              <a:rPr lang="en-IN" sz="1400" i="1" u="none" strike="noStrike" dirty="0">
                <a:effectLst/>
                <a:highlight>
                  <a:srgbClr val="FFFFFF"/>
                </a:highlight>
                <a:ea typeface="Times New Roman" panose="02020603050405020304" pitchFamily="18" charset="0"/>
              </a:rPr>
              <a:t>Behera, G. and Nain, N., 2019, November. Grid search optimization (GSO) based future sales prediction for big mart. In 2019 15th International Conference on Signal-Image Technology &amp; Internet-Based Systems (SITIS) (pp. 172-178). IEEE.</a:t>
            </a:r>
          </a:p>
        </p:txBody>
      </p:sp>
    </p:spTree>
    <p:extLst>
      <p:ext uri="{BB962C8B-B14F-4D97-AF65-F5344CB8AC3E}">
        <p14:creationId xmlns:p14="http://schemas.microsoft.com/office/powerpoint/2010/main" val="232284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6E64FC-9055-0984-8E98-2EFB60C71080}"/>
              </a:ext>
            </a:extLst>
          </p:cNvPr>
          <p:cNvSpPr>
            <a:spLocks noGrp="1"/>
          </p:cNvSpPr>
          <p:nvPr>
            <p:ph idx="1"/>
          </p:nvPr>
        </p:nvSpPr>
        <p:spPr/>
        <p:txBody>
          <a:bodyPr>
            <a:normAutofit/>
          </a:bodyPr>
          <a:lstStyle/>
          <a:p>
            <a:pPr marL="0" indent="0" algn="ctr">
              <a:buNone/>
            </a:pPr>
            <a:r>
              <a:rPr lang="en-IN" sz="11500" dirty="0"/>
              <a:t>Thank You</a:t>
            </a:r>
          </a:p>
        </p:txBody>
      </p:sp>
    </p:spTree>
    <p:extLst>
      <p:ext uri="{BB962C8B-B14F-4D97-AF65-F5344CB8AC3E}">
        <p14:creationId xmlns:p14="http://schemas.microsoft.com/office/powerpoint/2010/main" val="75097776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TM03090430[[fn=Banded]]</Template>
  <TotalTime>2432</TotalTime>
  <Words>1322</Words>
  <Application>Microsoft Office PowerPoint</Application>
  <PresentationFormat>Widescreen</PresentationFormat>
  <Paragraphs>97</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Times New Roman</vt:lpstr>
      <vt:lpstr>Trebuchet MS</vt:lpstr>
      <vt:lpstr>Wingdings</vt:lpstr>
      <vt:lpstr>Wingdings 3</vt:lpstr>
      <vt:lpstr>Facet</vt:lpstr>
      <vt:lpstr>Future Sales Prediction using Machine Learning and Deep Learning Techniques</vt:lpstr>
      <vt:lpstr>Contents</vt:lpstr>
      <vt:lpstr>Introduction</vt:lpstr>
      <vt:lpstr>Motivation and Problem Statement</vt:lpstr>
      <vt:lpstr>Literature Review</vt:lpstr>
      <vt:lpstr>The Novelty and The Methodology</vt:lpstr>
      <vt:lpstr>The Novelty and The Methodology</vt:lpstr>
      <vt:lpstr>Results</vt:lpstr>
      <vt:lpstr>Conclusion</vt:lpstr>
      <vt:lpstr>Future work</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Future Sales Prediction using Machine Learning and Deep Learning Techniques   </dc:title>
  <dc:creator>Ashwini Alashetty</dc:creator>
  <cp:lastModifiedBy>Dhanesh Rodriguse</cp:lastModifiedBy>
  <cp:revision>18</cp:revision>
  <dcterms:created xsi:type="dcterms:W3CDTF">2023-08-28T11:44:42Z</dcterms:created>
  <dcterms:modified xsi:type="dcterms:W3CDTF">2023-09-09T13:58:31Z</dcterms:modified>
</cp:coreProperties>
</file>